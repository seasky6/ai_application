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7"/>
  </p:sldMasterIdLst>
  <p:notesMasterIdLst>
    <p:notesMasterId r:id="rId23"/>
  </p:notesMasterIdLst>
  <p:sldIdLst>
    <p:sldId id="2147482778" r:id="rId8"/>
    <p:sldId id="2147482754" r:id="rId9"/>
    <p:sldId id="2147482760" r:id="rId10"/>
    <p:sldId id="2147482761" r:id="rId11"/>
    <p:sldId id="278" r:id="rId12"/>
    <p:sldId id="2147482762" r:id="rId13"/>
    <p:sldId id="266" r:id="rId14"/>
    <p:sldId id="258" r:id="rId15"/>
    <p:sldId id="260" r:id="rId16"/>
    <p:sldId id="262" r:id="rId17"/>
    <p:sldId id="2147482763" r:id="rId18"/>
    <p:sldId id="2147482773" r:id="rId19"/>
    <p:sldId id="2147482774" r:id="rId20"/>
    <p:sldId id="2147482777" r:id="rId21"/>
    <p:sldId id="214748277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040A7250-24F3-4291-818A-03620BD00940}">
          <p14:sldIdLst>
            <p14:sldId id="2147482778"/>
          </p14:sldIdLst>
        </p14:section>
        <p14:section name="Background" id="{CF7A48F6-7839-4672-9CBB-3DF34E8BBA2B}">
          <p14:sldIdLst>
            <p14:sldId id="2147482754"/>
            <p14:sldId id="2147482760"/>
          </p14:sldIdLst>
        </p14:section>
        <p14:section name="Labeling" id="{39AE5967-E285-458B-A5DC-58214BA5D4E5}">
          <p14:sldIdLst>
            <p14:sldId id="2147482761"/>
          </p14:sldIdLst>
        </p14:section>
        <p14:section name="XGBoost" id="{BADB84A7-C4A3-417C-AEB3-5E0B92E2F73B}">
          <p14:sldIdLst>
            <p14:sldId id="278"/>
          </p14:sldIdLst>
        </p14:section>
        <p14:section name="Model Training" id="{DBB59914-7AEB-4D4A-A0A5-7522CF13A91B}">
          <p14:sldIdLst>
            <p14:sldId id="2147482762"/>
          </p14:sldIdLst>
        </p14:section>
        <p14:section name="Parameter Tuning" id="{F4348433-AE55-4301-9D4C-B0DF579B4E03}">
          <p14:sldIdLst>
            <p14:sldId id="266"/>
            <p14:sldId id="258"/>
            <p14:sldId id="260"/>
            <p14:sldId id="262"/>
          </p14:sldIdLst>
        </p14:section>
        <p14:section name="Model Evaluation" id="{B0455242-E50C-407F-8E35-DA3FF8245A04}">
          <p14:sldIdLst>
            <p14:sldId id="2147482763"/>
          </p14:sldIdLst>
        </p14:section>
        <p14:section name="Practical Validation" id="{66822657-A86E-4290-94AA-815176619629}">
          <p14:sldIdLst>
            <p14:sldId id="2147482773"/>
            <p14:sldId id="2147482774"/>
            <p14:sldId id="2147482777"/>
          </p14:sldIdLst>
        </p14:section>
        <p14:section name="Deployment" id="{003A43E0-B238-47AB-897D-CB3E75D9C911}">
          <p14:sldIdLst>
            <p14:sldId id="214748277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B6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45" autoAdjust="0"/>
    <p:restoredTop sz="96247" autoAdjust="0"/>
  </p:normalViewPr>
  <p:slideViewPr>
    <p:cSldViewPr snapToGrid="0">
      <p:cViewPr varScale="1">
        <p:scale>
          <a:sx n="102" d="100"/>
          <a:sy n="102" d="100"/>
        </p:scale>
        <p:origin x="918" y="318"/>
      </p:cViewPr>
      <p:guideLst/>
    </p:cSldViewPr>
  </p:slideViewPr>
  <p:outlineViewPr>
    <p:cViewPr>
      <p:scale>
        <a:sx n="33" d="100"/>
        <a:sy n="33" d="100"/>
      </p:scale>
      <p:origin x="0" y="-204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758"/>
    </p:cViewPr>
  </p:sorter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1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4.xml"/><Relationship Id="rId24" Type="http://schemas.openxmlformats.org/officeDocument/2006/relationships/presProps" Target="presProps.xml"/><Relationship Id="rId5" Type="http://schemas.openxmlformats.org/officeDocument/2006/relationships/customXml" Target="../customXml/item5.xml"/><Relationship Id="rId15" Type="http://schemas.openxmlformats.org/officeDocument/2006/relationships/slide" Target="slides/slide8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320234-A41E-475D-BFD8-347696F11E9C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04944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AF1F9-501C-25B6-ACCB-5C44D57E3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3C605E-79D1-22B8-E46B-63466268DA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EDD3ED-868B-6A12-20E7-A93E14452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1A034-FC08-D2BD-B919-EFDBA4CC690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ricsson Hilda Light" panose="00000400000000000000" pitchFamily="2" charset="0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0E1927-9971-009B-9DBE-9606E440A0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3A2279-ADCC-46DB-8C11-46386CA4A16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ricsson Hilda Light" panose="00000400000000000000" pitchFamily="2" charset="0"/>
                <a:ea typeface="+mn-ea"/>
                <a:cs typeface="+mn-cs"/>
              </a:r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ricsson Hilda Light" panose="00000400000000000000" pitchFamily="2" charset="0"/>
              <a:ea typeface="+mn-ea"/>
              <a:cs typeface="+mn-cs"/>
            </a:endParaRP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9AB4EF80-48CB-310E-072C-118FBBCE0DCD}"/>
              </a:ext>
            </a:extLst>
          </p:cNvPr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ricsson Hilda Light" panose="00000400000000000000" pitchFamily="2" charset="0"/>
              <a:ea typeface="+mn-ea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1C17852-7AC6-AC52-EF40-4CEEB3EEA7A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ricsson Hilda Light" panose="000004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4064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E9DCA-901D-6CED-6E6E-CE89DE644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24EF75-DE65-3276-4E23-F47E95D406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2F3D78-64DA-B7E4-FCC1-64D18F0F8E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CD473-2901-F369-96C2-3FEF0DC5521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ricsson Hilda Light" panose="00000400000000000000" pitchFamily="2" charset="0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CD628E-2401-0E31-058C-60A7F27C44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3A2279-ADCC-46DB-8C11-46386CA4A16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ricsson Hilda Light" panose="00000400000000000000" pitchFamily="2" charset="0"/>
                <a:ea typeface="+mn-ea"/>
                <a:cs typeface="+mn-cs"/>
              </a:r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ricsson Hilda Light" panose="00000400000000000000" pitchFamily="2" charset="0"/>
              <a:ea typeface="+mn-ea"/>
              <a:cs typeface="+mn-cs"/>
            </a:endParaRP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A499FA21-416A-DA61-9BA2-187EEC673A8B}"/>
              </a:ext>
            </a:extLst>
          </p:cNvPr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ricsson Hilda Light" panose="00000400000000000000" pitchFamily="2" charset="0"/>
              <a:ea typeface="+mn-ea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82D43BD-043E-FA1B-C0A8-BE05EB941CA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ricsson Hilda Light" panose="000004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14619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F855D-0A52-3AE8-A702-D0670117A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7DBB8C-DE6C-83AC-FEEB-AE3684B8E9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67A4C1-E508-3D96-52AF-70887A3F98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13E18-5B53-B535-8611-4047C168596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ricsson Hilda Light" panose="00000400000000000000" pitchFamily="2" charset="0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8D8613-C897-1DC5-8306-229E603EDF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3A2279-ADCC-46DB-8C11-46386CA4A16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ricsson Hilda Light" panose="00000400000000000000" pitchFamily="2" charset="0"/>
                <a:ea typeface="+mn-ea"/>
                <a:cs typeface="+mn-cs"/>
              </a:r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ricsson Hilda Light" panose="00000400000000000000" pitchFamily="2" charset="0"/>
              <a:ea typeface="+mn-ea"/>
              <a:cs typeface="+mn-cs"/>
            </a:endParaRP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5D784B33-CDA3-21DD-F12A-88403E480023}"/>
              </a:ext>
            </a:extLst>
          </p:cNvPr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ricsson Hilda Light" panose="00000400000000000000" pitchFamily="2" charset="0"/>
              <a:ea typeface="+mn-ea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B6AF4E7-8613-0421-B662-562755B16A0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ricsson Hilda Light" panose="000004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14599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949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976C9-CB05-6B20-C192-A5215F87DC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112762-BEBB-7D47-50FA-07790ABFF6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17CAB-6DB0-8D44-E037-122225784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F74E5-77C0-4ED2-BD4A-635A5BFFEB4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65147-573F-2A4E-1E44-94CE29A77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923E9-3ED6-A668-DD1F-4122156C2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ECDC5-2B81-474F-AC32-81B341702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834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1C167-6842-CE5D-8C7B-792DE9A13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D0414-4A9B-084F-C27F-AE2DFFFEA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006E3C-C6E8-3A21-8C69-99E508E24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F74E5-77C0-4ED2-BD4A-635A5BFFEB4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D3D58-458A-C639-D7B7-31E9690C4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05979-38DF-EDB8-CDFF-DDF3DFBFF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ECDC5-2B81-474F-AC32-81B341702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555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6856B-2716-71A7-BFD1-9A4E84AF9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BE9899-32C5-59A0-1CEA-532332B3F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E67E5-67D9-125F-F848-A0F2E3049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F74E5-77C0-4ED2-BD4A-635A5BFFEB4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25A960-2C92-07B2-38ED-5D7AA0396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1D9F3-E70F-986D-66D0-64977C556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ECDC5-2B81-474F-AC32-81B341702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813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0B958-3967-3ACD-5210-6968BCD94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F347-CAC8-7A1A-9C99-12DBBBC74B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43F8E0-96DF-9B05-9CF2-7F875AD530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6F0A47-EAEE-B18C-F25F-89DD5B55B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F74E5-77C0-4ED2-BD4A-635A5BFFEB4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2C293C-1AC6-66FF-4D83-873D7D409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A4DD4D-AB65-4EB4-4D14-0033A679B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ECDC5-2B81-474F-AC32-81B341702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372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F887C-D59E-C243-B6B3-8BA6EF69C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1F2991-0E48-EF99-36B3-2C5F06861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BFD060-4013-4EC2-C548-28441DA2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D3A9D9-86AC-8EA8-A458-2E4DB9F40E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D00405-3231-D551-23E0-ADA05062D3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9089FD-6345-1A99-AC4C-C68C9BB54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F74E5-77C0-4ED2-BD4A-635A5BFFEB4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7AFF48-FA2A-0ABC-1D66-5B3A2C343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CB66AD-FB22-2D02-9DFD-E68423455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ECDC5-2B81-474F-AC32-81B341702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643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2F287-C7FE-E4A1-C460-E800ACBB5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5AB92A-A45C-CD28-DCFE-EDD523619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F74E5-77C0-4ED2-BD4A-635A5BFFEB4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DD438C-FC47-3610-3D46-ACF498C03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51A79E-7DCD-0F2C-3A1C-12388C27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ECDC5-2B81-474F-AC32-81B341702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7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CAFEB0-1B72-27E2-9A6B-15C23F4FB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F74E5-77C0-4ED2-BD4A-635A5BFFEB4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1F7898-702F-195A-E82D-CE10A3ED9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11269-7201-BA71-192A-90C9391C5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ECDC5-2B81-474F-AC32-81B341702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299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7334F-FE80-3318-02E6-44FBD79A1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2D195-CEAF-717E-2CD0-49D3103EA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45F91E-6131-EF36-14B3-363FC5E6E7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61816F-BE3C-FAC4-C6F4-D8FE89C24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F74E5-77C0-4ED2-BD4A-635A5BFFEB4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9FB666-0618-1746-43D3-BE41695DB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4E1C69-8A47-0DB4-433B-34B517CE3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ECDC5-2B81-474F-AC32-81B341702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506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6363F-BC91-0BB6-CFA7-DEBF61806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A64FDA-2328-1414-FC09-8B837B1316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598C3A-D3A0-BABF-855D-8F3DC823E1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8EB361-2B3F-3B2A-399C-6469E2B81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F74E5-77C0-4ED2-BD4A-635A5BFFEB4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C602F2-38B9-F906-616E-5516E9CB9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15FE13-3229-2031-4397-321C76853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ECDC5-2B81-474F-AC32-81B341702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186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A8F57-DD95-3F95-7240-4675BD5FA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BEDE56-CF10-2608-1558-CCB3ABA4EC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8730D-37F2-EDD6-8664-AE4574617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F74E5-77C0-4ED2-BD4A-635A5BFFEB4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8935C-126F-E343-E4EC-CC3F7E4B2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49068-8AE2-FA0C-2023-A968DD188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ECDC5-2B81-474F-AC32-81B341702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911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21BFF9-004E-6B6F-5AF3-FBD2073532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2BCD63-65E3-8F2F-8E6C-D598899835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A758C-2A98-B671-A60B-548188CF6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F74E5-77C0-4ED2-BD4A-635A5BFFEB4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E9488-23D0-4D88-6955-F7AF26F90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D9B2C-FA5F-AD0A-765F-B4C2B2D7F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ECDC5-2B81-474F-AC32-81B341702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3252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Use this layout for document slides when you need space for a long heading and big content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1844675"/>
            <a:ext cx="11233150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824654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A27153-9312-C7B4-0D2E-BC4BBE8AC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A5695A-7994-00EE-DB13-CB3C943F1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4C793-7057-0EB3-61F6-61FCAC4234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BF74E5-77C0-4ED2-BD4A-635A5BFFEB4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27005-110E-74EA-C3CC-4939953801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10EE6-E000-3446-FBF6-4A898D509B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DECDC5-2B81-474F-AC32-81B341702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943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customXml" Target="../../customXml/item6.xml"/><Relationship Id="rId1" Type="http://schemas.openxmlformats.org/officeDocument/2006/relationships/customXml" Target="../../customXml/item1.xml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3.png"/><Relationship Id="rId2" Type="http://schemas.openxmlformats.org/officeDocument/2006/relationships/customXml" Target="../../customXml/item4.xml"/><Relationship Id="rId1" Type="http://schemas.openxmlformats.org/officeDocument/2006/relationships/customXml" Target="../../customXml/item5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customXml" Target="../../customXml/item2.xml"/><Relationship Id="rId1" Type="http://schemas.openxmlformats.org/officeDocument/2006/relationships/customXml" Target="../../customXml/item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D2C9D-290A-BB89-4406-542573A34C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54718"/>
            <a:ext cx="9144000" cy="2387600"/>
          </a:xfrm>
        </p:spPr>
        <p:txBody>
          <a:bodyPr/>
          <a:lstStyle/>
          <a:p>
            <a:r>
              <a:rPr lang="en-US" dirty="0"/>
              <a:t>AI/ML Based Log Analysis and Diagnosis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65ECE6-61E7-42A9-86DB-D97B426FF4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Project Name – </a:t>
            </a:r>
            <a:r>
              <a:rPr lang="en-US" sz="3200" b="1" dirty="0"/>
              <a:t>DeepLog</a:t>
            </a:r>
          </a:p>
        </p:txBody>
      </p:sp>
    </p:spTree>
    <p:extLst>
      <p:ext uri="{BB962C8B-B14F-4D97-AF65-F5344CB8AC3E}">
        <p14:creationId xmlns:p14="http://schemas.microsoft.com/office/powerpoint/2010/main" val="1007979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6970E-6AA0-7AF2-BB11-498140954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CD08A1D-B55E-F2A3-BF60-2EE7EF5FA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Value</a:t>
            </a:r>
            <a:br>
              <a:rPr lang="en-US" dirty="0">
                <a:latin typeface="Ericsson Hilda" panose="00000500000000000000" pitchFamily="2" charset="0"/>
              </a:rPr>
            </a:br>
            <a:endParaRPr lang="en-US" dirty="0"/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DE7B17F4-1369-A705-FC8F-E91489C11A1B}"/>
              </a:ext>
            </a:extLst>
          </p:cNvPr>
          <p:cNvSpPr/>
          <p:nvPr/>
        </p:nvSpPr>
        <p:spPr>
          <a:xfrm>
            <a:off x="2309310" y="3144832"/>
            <a:ext cx="2260315" cy="462337"/>
          </a:xfrm>
          <a:prstGeom prst="homePlate">
            <a:avLst/>
          </a:prstGeom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Higher quality</a:t>
            </a:r>
            <a:endParaRPr lang="en-US"/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CFF26A33-8A6B-99BB-869F-6F9E5501F648}"/>
              </a:ext>
            </a:extLst>
          </p:cNvPr>
          <p:cNvSpPr/>
          <p:nvPr/>
        </p:nvSpPr>
        <p:spPr>
          <a:xfrm>
            <a:off x="4559353" y="3144832"/>
            <a:ext cx="6041205" cy="462337"/>
          </a:xfrm>
          <a:prstGeom prst="chevron">
            <a:avLst/>
          </a:prstGeom>
          <a:solidFill>
            <a:srgbClr val="92D05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Lower return rates and fewer customer escalations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DDDFF49A-C4E3-6A6F-C8FF-37034A59CC30}"/>
              </a:ext>
            </a:extLst>
          </p:cNvPr>
          <p:cNvSpPr/>
          <p:nvPr/>
        </p:nvSpPr>
        <p:spPr>
          <a:xfrm>
            <a:off x="2309310" y="4095393"/>
            <a:ext cx="2260315" cy="462337"/>
          </a:xfrm>
          <a:prstGeom prst="homePlate">
            <a:avLst/>
          </a:prstGeom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Greater efficiency</a:t>
            </a:r>
            <a:endParaRPr lang="en-US" dirty="0"/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BB1EBEF9-AF23-9257-0597-FB0665AF2FE8}"/>
              </a:ext>
            </a:extLst>
          </p:cNvPr>
          <p:cNvSpPr/>
          <p:nvPr/>
        </p:nvSpPr>
        <p:spPr>
          <a:xfrm>
            <a:off x="4559353" y="4095393"/>
            <a:ext cx="6041205" cy="462337"/>
          </a:xfrm>
          <a:prstGeom prst="chevron">
            <a:avLst/>
          </a:prstGeom>
          <a:solidFill>
            <a:srgbClr val="92D05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Automated, end-to-end log analysis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3F303FED-51BD-40E6-BD34-7B66659AB800}"/>
              </a:ext>
            </a:extLst>
          </p:cNvPr>
          <p:cNvSpPr/>
          <p:nvPr/>
        </p:nvSpPr>
        <p:spPr>
          <a:xfrm>
            <a:off x="2309310" y="4994379"/>
            <a:ext cx="2260315" cy="462337"/>
          </a:xfrm>
          <a:prstGeom prst="homePlate">
            <a:avLst/>
          </a:prstGeom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Smarter operations</a:t>
            </a:r>
            <a:endParaRPr lang="en-US" dirty="0"/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19869709-DC85-F4C5-1744-60D8752E33AE}"/>
              </a:ext>
            </a:extLst>
          </p:cNvPr>
          <p:cNvSpPr/>
          <p:nvPr/>
        </p:nvSpPr>
        <p:spPr>
          <a:xfrm>
            <a:off x="4559353" y="4994379"/>
            <a:ext cx="6041205" cy="462337"/>
          </a:xfrm>
          <a:prstGeom prst="chevron">
            <a:avLst/>
          </a:prstGeom>
          <a:solidFill>
            <a:srgbClr val="92D05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Embedded AI for proactive radio supervision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319108-5A5E-FB5F-2450-DDB34243B7F7}"/>
              </a:ext>
            </a:extLst>
          </p:cNvPr>
          <p:cNvSpPr/>
          <p:nvPr/>
        </p:nvSpPr>
        <p:spPr>
          <a:xfrm>
            <a:off x="819560" y="3150071"/>
            <a:ext cx="1274000" cy="23529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Business Value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C2C068-9687-CD28-3156-1F4DB062D31E}"/>
              </a:ext>
            </a:extLst>
          </p:cNvPr>
          <p:cNvSpPr txBox="1"/>
          <p:nvPr/>
        </p:nvSpPr>
        <p:spPr>
          <a:xfrm>
            <a:off x="551417" y="1435510"/>
            <a:ext cx="10687664" cy="1272673"/>
          </a:xfrm>
          <a:prstGeom prst="rect">
            <a:avLst/>
          </a:prstGeom>
        </p:spPr>
        <p:txBody>
          <a:bodyPr vert="horz" wrap="square" lIns="72000" tIns="36000" rIns="72000" bIns="36000" rtlCol="0" anchor="t"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Ericsson Hilda" panose="00000500000000000000" pitchFamily="2" charset="0"/>
              </a:rPr>
              <a:t>Large volumes of customer field logs are difficult to manage with traditional manual analysis.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Ericsson Hilda" panose="00000500000000000000" pitchFamily="2" charset="0"/>
              </a:rPr>
              <a:t>AI/ML enables smarter insights, turning raw data into business value.</a:t>
            </a:r>
          </a:p>
          <a:p>
            <a:pPr marL="180000" marR="0" indent="-18000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Ericsson Hilda" panose="00000500000000000000" pitchFamily="2" charset="0"/>
              <a:buChar char="●"/>
              <a:tabLst/>
            </a:pPr>
            <a:endParaRPr kumimoji="0" lang="en-US" sz="2000" b="0" i="0" u="none" strike="noStrike" kern="1000" cap="none" spc="-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Ericsson Hilda" panose="00000500000000000000" pitchFamily="2" charset="0"/>
              <a:ea typeface="+mn-ea"/>
              <a:cs typeface="+mn-cs"/>
            </a:endParaRP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459977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7473B-7C1C-13EC-0550-88F16EA21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28033AE-3CB7-A93D-7052-D2BB636ED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17" y="388034"/>
            <a:ext cx="10521950" cy="1081088"/>
          </a:xfrm>
        </p:spPr>
        <p:txBody>
          <a:bodyPr/>
          <a:lstStyle/>
          <a:p>
            <a:r>
              <a:rPr lang="en-US" dirty="0"/>
              <a:t>Workaround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74C605-B091-81D7-6E80-0E7222E60D92}"/>
              </a:ext>
            </a:extLst>
          </p:cNvPr>
          <p:cNvSpPr/>
          <p:nvPr/>
        </p:nvSpPr>
        <p:spPr>
          <a:xfrm>
            <a:off x="403419" y="1892560"/>
            <a:ext cx="1972733" cy="9196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Ericsson Hilda" panose="00000500000000000000" pitchFamily="2" charset="0"/>
              </a:rPr>
              <a:t>Log collection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92C694-3583-FB91-8EA7-DF94A85AF7B4}"/>
              </a:ext>
            </a:extLst>
          </p:cNvPr>
          <p:cNvSpPr/>
          <p:nvPr/>
        </p:nvSpPr>
        <p:spPr>
          <a:xfrm>
            <a:off x="2722622" y="1892560"/>
            <a:ext cx="1972733" cy="9196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Ericsson Hilda" panose="00000500000000000000" pitchFamily="2" charset="0"/>
              </a:rPr>
              <a:t>Log Parsing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3E5F9CE-0B6F-A61E-F441-C8FB8E231CC1}"/>
              </a:ext>
            </a:extLst>
          </p:cNvPr>
          <p:cNvCxnSpPr>
            <a:cxnSpLocks/>
          </p:cNvCxnSpPr>
          <p:nvPr/>
        </p:nvCxnSpPr>
        <p:spPr>
          <a:xfrm>
            <a:off x="2376152" y="2352406"/>
            <a:ext cx="3464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EDCDF0CE-86B4-6EDE-E564-4644017DB215}"/>
              </a:ext>
            </a:extLst>
          </p:cNvPr>
          <p:cNvSpPr/>
          <p:nvPr/>
        </p:nvSpPr>
        <p:spPr>
          <a:xfrm>
            <a:off x="5069056" y="1892560"/>
            <a:ext cx="1972733" cy="9196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Ericsson Hilda" panose="00000500000000000000" pitchFamily="2" charset="0"/>
              </a:rPr>
              <a:t>Feature Extraction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5FFCA28-AF42-509E-9596-8F7E6823C9CF}"/>
              </a:ext>
            </a:extLst>
          </p:cNvPr>
          <p:cNvCxnSpPr>
            <a:cxnSpLocks/>
          </p:cNvCxnSpPr>
          <p:nvPr/>
        </p:nvCxnSpPr>
        <p:spPr>
          <a:xfrm>
            <a:off x="4695355" y="2352406"/>
            <a:ext cx="3737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AF7F1B1-6BDF-576C-78FA-7DB14BDD1C18}"/>
              </a:ext>
            </a:extLst>
          </p:cNvPr>
          <p:cNvSpPr/>
          <p:nvPr/>
        </p:nvSpPr>
        <p:spPr>
          <a:xfrm>
            <a:off x="7352443" y="1892560"/>
            <a:ext cx="1972733" cy="9196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Ericsson Hilda" panose="00000500000000000000" pitchFamily="2" charset="0"/>
              </a:rPr>
              <a:t>Anomaly Detection or Classification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B3E8A5C-722E-6971-50B5-160BB03E0B3C}"/>
              </a:ext>
            </a:extLst>
          </p:cNvPr>
          <p:cNvCxnSpPr>
            <a:cxnSpLocks/>
          </p:cNvCxnSpPr>
          <p:nvPr/>
        </p:nvCxnSpPr>
        <p:spPr>
          <a:xfrm>
            <a:off x="7041789" y="2352406"/>
            <a:ext cx="3106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403D539C-82EB-E443-F499-A7AA46444CC2}"/>
              </a:ext>
            </a:extLst>
          </p:cNvPr>
          <p:cNvSpPr/>
          <p:nvPr/>
        </p:nvSpPr>
        <p:spPr>
          <a:xfrm>
            <a:off x="4849529" y="1731426"/>
            <a:ext cx="4642134" cy="1284186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1717DC-9C24-33EB-C990-0189B1C7F0DA}"/>
              </a:ext>
            </a:extLst>
          </p:cNvPr>
          <p:cNvSpPr txBox="1"/>
          <p:nvPr/>
        </p:nvSpPr>
        <p:spPr>
          <a:xfrm>
            <a:off x="6055312" y="1366729"/>
            <a:ext cx="3690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AI/ML model based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DC838F9-E270-ACB9-7CDC-966A964BAB87}"/>
              </a:ext>
            </a:extLst>
          </p:cNvPr>
          <p:cNvSpPr/>
          <p:nvPr/>
        </p:nvSpPr>
        <p:spPr>
          <a:xfrm>
            <a:off x="9638443" y="1892559"/>
            <a:ext cx="1972733" cy="9196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Ericsson Hilda"/>
              </a:rPr>
              <a:t>Deployment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EAF1268-A8C2-F08E-A30B-E7C9E688D6E1}"/>
              </a:ext>
            </a:extLst>
          </p:cNvPr>
          <p:cNvCxnSpPr>
            <a:cxnSpLocks/>
          </p:cNvCxnSpPr>
          <p:nvPr/>
        </p:nvCxnSpPr>
        <p:spPr>
          <a:xfrm>
            <a:off x="9327789" y="2352405"/>
            <a:ext cx="3106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4DEA026-22F6-6F2E-7289-A02A1494A38E}"/>
              </a:ext>
            </a:extLst>
          </p:cNvPr>
          <p:cNvSpPr txBox="1"/>
          <p:nvPr/>
        </p:nvSpPr>
        <p:spPr>
          <a:xfrm>
            <a:off x="412749" y="3762374"/>
            <a:ext cx="1658937" cy="11168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2000" tIns="36000" rIns="72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9705" indent="-179705" algn="l" rtl="0" fontAlgn="base">
              <a:spcBef>
                <a:spcPts val="800"/>
              </a:spcBef>
              <a:spcAft>
                <a:spcPct val="0"/>
              </a:spcAft>
              <a:buFont typeface="Ericsson Hilda" panose="00000500000000000000" pitchFamily="2" charset="0"/>
              <a:buChar char="●"/>
            </a:pPr>
            <a:r>
              <a:rPr lang="en-US" kern="1000" spc="-30" dirty="0">
                <a:solidFill>
                  <a:schemeClr val="tx1"/>
                </a:solidFill>
                <a:latin typeface="Ericsson Hilda"/>
                <a:ea typeface="+mn-ea"/>
                <a:cs typeface="+mn-cs"/>
              </a:rPr>
              <a:t>Proactive log</a:t>
            </a:r>
          </a:p>
          <a:p>
            <a:pPr marL="179705" indent="-179705" algn="l">
              <a:spcBef>
                <a:spcPts val="800"/>
              </a:spcBef>
              <a:spcAft>
                <a:spcPct val="0"/>
              </a:spcAft>
              <a:buFont typeface="Ericsson Hilda" panose="00000500000000000000" pitchFamily="2" charset="0"/>
              <a:buChar char="●"/>
            </a:pPr>
            <a:r>
              <a:rPr lang="en-US" kern="1000" spc="-30" dirty="0">
                <a:solidFill>
                  <a:schemeClr val="tx1"/>
                </a:solidFill>
                <a:latin typeface="Ericsson Hilda"/>
                <a:ea typeface="+mn-ea"/>
                <a:cs typeface="+mn-cs"/>
              </a:rPr>
              <a:t>PDP</a:t>
            </a:r>
          </a:p>
          <a:p>
            <a:pPr marL="179705" indent="-179705" algn="l">
              <a:spcBef>
                <a:spcPts val="800"/>
              </a:spcBef>
              <a:spcAft>
                <a:spcPct val="0"/>
              </a:spcAft>
              <a:buFont typeface="Ericsson Hilda" panose="00000500000000000000" pitchFamily="2" charset="0"/>
              <a:buChar char="●"/>
            </a:pPr>
            <a:r>
              <a:rPr lang="en-US" kern="1000" spc="-30" dirty="0">
                <a:solidFill>
                  <a:schemeClr val="tx1"/>
                </a:solidFill>
                <a:latin typeface="Ericsson Hilda"/>
                <a:ea typeface="+mn-ea"/>
                <a:cs typeface="+mn-cs"/>
              </a:rPr>
              <a:t>Repair log</a:t>
            </a:r>
          </a:p>
        </p:txBody>
      </p:sp>
      <p:sp>
        <p:nvSpPr>
          <p:cNvPr id="23" name="Cylinder 22">
            <a:extLst>
              <a:ext uri="{FF2B5EF4-FFF2-40B4-BE49-F238E27FC236}">
                <a16:creationId xmlns:a16="http://schemas.microsoft.com/office/drawing/2014/main" id="{7D93168C-09D4-A614-B27B-D0D3FC864BA4}"/>
              </a:ext>
            </a:extLst>
          </p:cNvPr>
          <p:cNvSpPr/>
          <p:nvPr/>
        </p:nvSpPr>
        <p:spPr bwMode="auto">
          <a:xfrm>
            <a:off x="415923" y="3336861"/>
            <a:ext cx="1533526" cy="1692402"/>
          </a:xfrm>
          <a:prstGeom prst="can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err="1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24" name="Picture 2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D5EC04C-4EB2-93D7-943E-B0621838C3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5050" y="3492500"/>
            <a:ext cx="2493964" cy="881062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03F4C6B6-7B8D-0FF8-AE23-D4502633829F}"/>
              </a:ext>
            </a:extLst>
          </p:cNvPr>
          <p:cNvGrpSpPr/>
          <p:nvPr/>
        </p:nvGrpSpPr>
        <p:grpSpPr>
          <a:xfrm>
            <a:off x="2293938" y="4733925"/>
            <a:ext cx="2500313" cy="954088"/>
            <a:chOff x="2516188" y="4749800"/>
            <a:chExt cx="3032125" cy="1216025"/>
          </a:xfrm>
        </p:grpSpPr>
        <p:pic>
          <p:nvPicPr>
            <p:cNvPr id="26" name="Picture 25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9D576150-E325-2B87-ADE7-B7BD078A3F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16188" y="4749800"/>
              <a:ext cx="2667000" cy="914400"/>
            </a:xfrm>
            <a:prstGeom prst="rect">
              <a:avLst/>
            </a:prstGeom>
          </p:spPr>
        </p:pic>
        <p:pic>
          <p:nvPicPr>
            <p:cNvPr id="27" name="Picture 26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51DB3D9F-2F86-195C-AA7E-4A4EEEC608D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690812" y="4924425"/>
              <a:ext cx="2667000" cy="914400"/>
            </a:xfrm>
            <a:prstGeom prst="rect">
              <a:avLst/>
            </a:prstGeom>
          </p:spPr>
        </p:pic>
        <p:pic>
          <p:nvPicPr>
            <p:cNvPr id="28" name="Picture 27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87B49C12-5A57-EDDE-854C-B7FAF2503F3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881313" y="5051425"/>
              <a:ext cx="2667000" cy="914400"/>
            </a:xfrm>
            <a:prstGeom prst="rect">
              <a:avLst/>
            </a:prstGeom>
          </p:spPr>
        </p:pic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96EDDB3-08F3-FE25-01BB-1ADAA34984DC}"/>
              </a:ext>
            </a:extLst>
          </p:cNvPr>
          <p:cNvCxnSpPr/>
          <p:nvPr/>
        </p:nvCxnSpPr>
        <p:spPr bwMode="auto">
          <a:xfrm>
            <a:off x="3416299" y="4440238"/>
            <a:ext cx="1589" cy="287336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09133BB1-49F4-03B8-8888-30C7EAF0F6F4}"/>
              </a:ext>
            </a:extLst>
          </p:cNvPr>
          <p:cNvSpPr/>
          <p:nvPr/>
        </p:nvSpPr>
        <p:spPr bwMode="auto">
          <a:xfrm>
            <a:off x="1963483" y="4059809"/>
            <a:ext cx="335471" cy="238570"/>
          </a:xfrm>
          <a:prstGeom prst="rightArrow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err="1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31" name="Picture 30" descr="A diagram of a program&#10;&#10;AI-generated content may be incorrect.">
            <a:extLst>
              <a:ext uri="{FF2B5EF4-FFF2-40B4-BE49-F238E27FC236}">
                <a16:creationId xmlns:a16="http://schemas.microsoft.com/office/drawing/2014/main" id="{0444DA44-9EE5-75CC-FF68-D3D919312F5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4208" t="1550" r="24340" b="5039"/>
          <a:stretch>
            <a:fillRect/>
          </a:stretch>
        </p:blipFill>
        <p:spPr>
          <a:xfrm>
            <a:off x="5214825" y="3482196"/>
            <a:ext cx="1954842" cy="1918928"/>
          </a:xfrm>
          <a:prstGeom prst="rect">
            <a:avLst/>
          </a:prstGeom>
        </p:spPr>
      </p:pic>
      <p:sp>
        <p:nvSpPr>
          <p:cNvPr id="32" name="Arrow: Right 31">
            <a:extLst>
              <a:ext uri="{FF2B5EF4-FFF2-40B4-BE49-F238E27FC236}">
                <a16:creationId xmlns:a16="http://schemas.microsoft.com/office/drawing/2014/main" id="{CD6C8FE4-F9D0-9232-95D9-7914855FF2D0}"/>
              </a:ext>
            </a:extLst>
          </p:cNvPr>
          <p:cNvSpPr/>
          <p:nvPr/>
        </p:nvSpPr>
        <p:spPr bwMode="auto">
          <a:xfrm>
            <a:off x="4799280" y="4059808"/>
            <a:ext cx="335471" cy="238570"/>
          </a:xfrm>
          <a:prstGeom prst="rightArrow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err="1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20299D9-BA87-4B2F-4605-ED08CDAF59E1}"/>
              </a:ext>
            </a:extLst>
          </p:cNvPr>
          <p:cNvSpPr/>
          <p:nvPr/>
        </p:nvSpPr>
        <p:spPr bwMode="auto">
          <a:xfrm>
            <a:off x="5202739" y="3478391"/>
            <a:ext cx="1985058" cy="1927184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err="1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34" name="Picture 33" descr="Anomaly Detection with Unsupervised Machine Learning | by Hiraltalsaniya |  Simform Engineering | Medium">
            <a:extLst>
              <a:ext uri="{FF2B5EF4-FFF2-40B4-BE49-F238E27FC236}">
                <a16:creationId xmlns:a16="http://schemas.microsoft.com/office/drawing/2014/main" id="{9CC327E6-65E3-0526-4355-656AE608235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817" t="6308" r="8565" b="5917"/>
          <a:stretch>
            <a:fillRect/>
          </a:stretch>
        </p:blipFill>
        <p:spPr>
          <a:xfrm>
            <a:off x="7529512" y="3478952"/>
            <a:ext cx="1993798" cy="1923355"/>
          </a:xfrm>
          <a:prstGeom prst="rect">
            <a:avLst/>
          </a:prstGeom>
        </p:spPr>
      </p:pic>
      <p:sp>
        <p:nvSpPr>
          <p:cNvPr id="35" name="Arrow: Right 34">
            <a:extLst>
              <a:ext uri="{FF2B5EF4-FFF2-40B4-BE49-F238E27FC236}">
                <a16:creationId xmlns:a16="http://schemas.microsoft.com/office/drawing/2014/main" id="{17A5E172-536D-360A-A437-A581074D22A6}"/>
              </a:ext>
            </a:extLst>
          </p:cNvPr>
          <p:cNvSpPr/>
          <p:nvPr/>
        </p:nvSpPr>
        <p:spPr bwMode="auto">
          <a:xfrm>
            <a:off x="7212279" y="4075682"/>
            <a:ext cx="335471" cy="238570"/>
          </a:xfrm>
          <a:prstGeom prst="rightArrow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err="1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5326AF0-E2DF-90B3-7F8C-1D0F8AAB67CA}"/>
              </a:ext>
            </a:extLst>
          </p:cNvPr>
          <p:cNvSpPr txBox="1"/>
          <p:nvPr/>
        </p:nvSpPr>
        <p:spPr>
          <a:xfrm>
            <a:off x="9913937" y="3484561"/>
            <a:ext cx="2151061" cy="12832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2000" tIns="36000" rIns="72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9705" indent="-179705" algn="l" rtl="0" fontAlgn="base">
              <a:spcBef>
                <a:spcPts val="800"/>
              </a:spcBef>
              <a:spcAft>
                <a:spcPct val="0"/>
              </a:spcAft>
              <a:buFont typeface="Ericsson Hilda" panose="00000500000000000000" pitchFamily="2" charset="0"/>
              <a:buChar char="●"/>
            </a:pPr>
            <a:r>
              <a:rPr lang="en-US" kern="1000" spc="-30" dirty="0">
                <a:solidFill>
                  <a:schemeClr val="tx1"/>
                </a:solidFill>
                <a:latin typeface="Ericsson Hilda"/>
                <a:ea typeface="+mn-ea"/>
                <a:cs typeface="+mn-cs"/>
              </a:rPr>
              <a:t>Off-line tools</a:t>
            </a:r>
          </a:p>
          <a:p>
            <a:pPr marL="179705" indent="-179705" algn="l">
              <a:spcBef>
                <a:spcPts val="800"/>
              </a:spcBef>
              <a:spcAft>
                <a:spcPct val="0"/>
              </a:spcAft>
              <a:buFont typeface="Ericsson Hilda" panose="00000500000000000000" pitchFamily="2" charset="0"/>
              <a:buChar char="●"/>
            </a:pPr>
            <a:r>
              <a:rPr lang="en-US" kern="1000" spc="-30" dirty="0">
                <a:solidFill>
                  <a:schemeClr val="tx1"/>
                </a:solidFill>
                <a:latin typeface="Ericsson Hilda"/>
                <a:ea typeface="+mn-ea"/>
                <a:cs typeface="+mn-cs"/>
              </a:rPr>
              <a:t>On-line inside product or data pipeline</a:t>
            </a:r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F64F3010-B5ED-3CA5-BFC5-264752DDCA54}"/>
              </a:ext>
            </a:extLst>
          </p:cNvPr>
          <p:cNvSpPr/>
          <p:nvPr/>
        </p:nvSpPr>
        <p:spPr bwMode="auto">
          <a:xfrm>
            <a:off x="9577653" y="4075682"/>
            <a:ext cx="335471" cy="238570"/>
          </a:xfrm>
          <a:prstGeom prst="rightArrow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err="1">
              <a:solidFill>
                <a:srgbClr val="FFFFFF"/>
              </a:solidFill>
              <a:latin typeface="+mn-lt"/>
            </a:endParaRP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661553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D2DF3-614C-CAFE-D8E9-4403610D7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AA4944-7B00-6D7A-2C29-DE49F3A3D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256188"/>
            <a:ext cx="10521950" cy="1081088"/>
          </a:xfrm>
        </p:spPr>
        <p:txBody>
          <a:bodyPr/>
          <a:lstStyle/>
          <a:p>
            <a:r>
              <a:rPr lang="en-US" dirty="0"/>
              <a:t>Data Collection and Labeling 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8A3DD17-A45B-AB50-907D-653F80F4F2D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5" y="1120472"/>
            <a:ext cx="11271947" cy="3406306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sz="1800" dirty="0"/>
              <a:t>Collect logs from radios in Repair Center. The overall samples are ~800. </a:t>
            </a:r>
          </a:p>
          <a:p>
            <a:endParaRPr lang="en-US" altLang="zh-CN" sz="1800" dirty="0"/>
          </a:p>
          <a:p>
            <a:endParaRPr lang="en-US" altLang="zh-CN" sz="1800" dirty="0"/>
          </a:p>
          <a:p>
            <a:endParaRPr lang="en-US" altLang="zh-CN" sz="1800" dirty="0"/>
          </a:p>
          <a:p>
            <a:endParaRPr lang="en-US" altLang="zh-CN" sz="1800" dirty="0"/>
          </a:p>
          <a:p>
            <a:pPr marL="0" indent="0">
              <a:buNone/>
            </a:pPr>
            <a:endParaRPr lang="en-US" altLang="zh-CN" sz="1800" dirty="0"/>
          </a:p>
          <a:p>
            <a:endParaRPr lang="en-US" altLang="zh-CN" sz="1800" dirty="0"/>
          </a:p>
          <a:p>
            <a:r>
              <a:rPr lang="en-US" altLang="zh-CN" sz="1800" dirty="0"/>
              <a:t>Choose 70% for model training and 30% to verify predictions.</a:t>
            </a:r>
          </a:p>
          <a:p>
            <a:r>
              <a:rPr lang="en-US" altLang="zh-CN" sz="1800" dirty="0"/>
              <a:t>Use repair-categorization info for labeling.</a:t>
            </a:r>
          </a:p>
          <a:p>
            <a:pPr marL="273050" lvl="1" indent="0">
              <a:buNone/>
            </a:pPr>
            <a:r>
              <a:rPr lang="en-US" altLang="zh-CN" sz="1800" dirty="0"/>
              <a:t> </a:t>
            </a:r>
          </a:p>
          <a:p>
            <a:pPr marL="265113" lvl="1" indent="0">
              <a:buNone/>
            </a:pPr>
            <a:endParaRPr lang="en-US" altLang="zh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96351C-E441-335E-5E93-36E28E415D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202" y="1482140"/>
            <a:ext cx="3186909" cy="19163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E4017F-17BD-C1CC-24D6-A01B60D1A1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202" y="4156044"/>
            <a:ext cx="3795036" cy="2206086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706612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AA403-00FF-54E5-0DAF-C49E3EB8E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Model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F69F7-FFED-E95B-1975-FAB6DD3611B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5" y="1342068"/>
            <a:ext cx="7189248" cy="4945609"/>
          </a:xfrm>
        </p:spPr>
        <p:txBody>
          <a:bodyPr>
            <a:noAutofit/>
          </a:bodyPr>
          <a:lstStyle/>
          <a:p>
            <a:r>
              <a:rPr lang="en-US" sz="2000" dirty="0"/>
              <a:t>Which: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/>
              <a:t>XGBoost</a:t>
            </a:r>
          </a:p>
          <a:p>
            <a:r>
              <a:rPr lang="en-US" sz="2000" dirty="0"/>
              <a:t>Why: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/>
              <a:t>Training dataset is tabular format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/>
              <a:t>High </a:t>
            </a:r>
            <a:r>
              <a:rPr lang="en-US" altLang="zh-CN" sz="2000" dirty="0"/>
              <a:t>performance and </a:t>
            </a:r>
            <a:r>
              <a:rPr lang="en-US" sz="2000" dirty="0"/>
              <a:t>robust to noise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sz="2000" dirty="0"/>
              <a:t>Support feature weight analysis</a:t>
            </a:r>
            <a:endParaRPr lang="en-US" sz="20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/>
              <a:t>Align with manually pattern-</a:t>
            </a:r>
            <a:r>
              <a:rPr lang="en-US" altLang="zh-CN" sz="2000" dirty="0"/>
              <a:t>analysis</a:t>
            </a:r>
            <a:r>
              <a:rPr lang="en-US" sz="2000" dirty="0"/>
              <a:t> method in logical inference </a:t>
            </a:r>
          </a:p>
          <a:p>
            <a:r>
              <a:rPr lang="en-US" sz="2000" dirty="0"/>
              <a:t>How: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/>
              <a:t>Ensemble learning techniques use multiple decision-trees to improve model performance.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/>
              <a:t>Boosting build tress sequentially, and each tree focus on correcting the errors of its predecessors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/>
              <a:t>XGBoost implements gradient boosting with highly accurate and build multiple Boosting trees in parallel</a:t>
            </a:r>
          </a:p>
        </p:txBody>
      </p:sp>
      <p:pic>
        <p:nvPicPr>
          <p:cNvPr id="1028" name="Picture 4" descr="Image result for gradient descent">
            <a:extLst>
              <a:ext uri="{FF2B5EF4-FFF2-40B4-BE49-F238E27FC236}">
                <a16:creationId xmlns:a16="http://schemas.microsoft.com/office/drawing/2014/main" id="{7895A034-1F7B-D340-64D3-8C977E0CC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8833" y="3814873"/>
            <a:ext cx="4139774" cy="2327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6A78ED-E488-2DEE-D5F7-4F6772D01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6867" y="1210308"/>
            <a:ext cx="2033701" cy="2604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256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F69F5-42D8-506B-B8E9-7ED4C5F4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14" y="394638"/>
            <a:ext cx="10521950" cy="1081088"/>
          </a:xfrm>
        </p:spPr>
        <p:txBody>
          <a:bodyPr/>
          <a:lstStyle/>
          <a:p>
            <a:r>
              <a:rPr lang="en-US" dirty="0"/>
              <a:t>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81D03-A54C-185C-BA0D-2167C5382AA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10414" y="1218498"/>
            <a:ext cx="11233150" cy="4089804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CN" sz="2200" dirty="0"/>
              <a:t>Tree level: split node threshold; leaf weight (voting tendency)</a:t>
            </a:r>
          </a:p>
          <a:p>
            <a:pPr lvl="1">
              <a:spcBef>
                <a:spcPts val="0"/>
              </a:spcBef>
            </a:pPr>
            <a:endParaRPr lang="en-US" altLang="zh-CN" sz="1600" dirty="0"/>
          </a:p>
          <a:p>
            <a:pPr lvl="1">
              <a:spcBef>
                <a:spcPts val="0"/>
              </a:spcBef>
            </a:pPr>
            <a:endParaRPr lang="en-US" altLang="zh-CN" sz="1600" dirty="0"/>
          </a:p>
          <a:p>
            <a:pPr lvl="1">
              <a:spcBef>
                <a:spcPts val="0"/>
              </a:spcBef>
            </a:pPr>
            <a:endParaRPr lang="en-US" altLang="zh-CN" sz="1600" dirty="0"/>
          </a:p>
          <a:p>
            <a:pPr lvl="1">
              <a:spcBef>
                <a:spcPts val="0"/>
              </a:spcBef>
            </a:pPr>
            <a:endParaRPr lang="en-US" altLang="zh-CN" sz="1600" dirty="0"/>
          </a:p>
          <a:p>
            <a:pPr lvl="1">
              <a:spcBef>
                <a:spcPts val="0"/>
              </a:spcBef>
            </a:pPr>
            <a:endParaRPr lang="en-US" altLang="zh-CN" sz="1600" dirty="0"/>
          </a:p>
          <a:p>
            <a:pPr lvl="1">
              <a:spcBef>
                <a:spcPts val="0"/>
              </a:spcBef>
            </a:pPr>
            <a:endParaRPr lang="en-US" altLang="zh-CN" sz="1600" dirty="0"/>
          </a:p>
          <a:p>
            <a:pPr lvl="1">
              <a:spcBef>
                <a:spcPts val="0"/>
              </a:spcBef>
            </a:pPr>
            <a:endParaRPr lang="en-US" altLang="zh-CN" sz="1600" dirty="0"/>
          </a:p>
          <a:p>
            <a:pPr lvl="1">
              <a:spcBef>
                <a:spcPts val="0"/>
              </a:spcBef>
            </a:pPr>
            <a:endParaRPr lang="en-US" altLang="zh-CN" sz="1600" dirty="0"/>
          </a:p>
          <a:p>
            <a:pPr lvl="1">
              <a:spcBef>
                <a:spcPts val="0"/>
              </a:spcBef>
            </a:pPr>
            <a:endParaRPr lang="en-US" altLang="zh-CN" sz="1600" dirty="0"/>
          </a:p>
          <a:p>
            <a:pPr marL="265113" lvl="1" indent="0">
              <a:spcBef>
                <a:spcPts val="0"/>
              </a:spcBef>
              <a:buNone/>
            </a:pPr>
            <a:endParaRPr lang="en-US" altLang="zh-CN" sz="1600" dirty="0"/>
          </a:p>
          <a:p>
            <a:pPr lvl="1">
              <a:spcBef>
                <a:spcPts val="0"/>
              </a:spcBef>
            </a:pPr>
            <a:endParaRPr lang="en-US" altLang="zh-CN" sz="1600" dirty="0"/>
          </a:p>
          <a:p>
            <a:pPr marL="457200" lvl="1" indent="0">
              <a:spcBef>
                <a:spcPts val="0"/>
              </a:spcBef>
              <a:buNone/>
            </a:pPr>
            <a:endParaRPr lang="en-US" altLang="zh-CN" sz="1600" dirty="0"/>
          </a:p>
          <a:p>
            <a:pPr>
              <a:spcBef>
                <a:spcPts val="0"/>
              </a:spcBef>
            </a:pPr>
            <a:r>
              <a:rPr lang="en-US" altLang="zh-CN" sz="2000" dirty="0"/>
              <a:t>Forest level:</a:t>
            </a:r>
            <a:r>
              <a:rPr lang="en-US" altLang="zh-CN" sz="2200" dirty="0"/>
              <a:t> </a:t>
            </a:r>
            <a:r>
              <a:rPr lang="en-US" altLang="zh-CN" sz="2000" dirty="0"/>
              <a:t>sum up scores from each trees to get the final score 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3183742-8E0B-BDE7-76CE-76CB9DCDDFE1}"/>
              </a:ext>
            </a:extLst>
          </p:cNvPr>
          <p:cNvGrpSpPr/>
          <p:nvPr/>
        </p:nvGrpSpPr>
        <p:grpSpPr>
          <a:xfrm>
            <a:off x="548436" y="4719033"/>
            <a:ext cx="9802195" cy="1470701"/>
            <a:chOff x="874457" y="4002748"/>
            <a:chExt cx="9095656" cy="1220688"/>
          </a:xfrm>
        </p:grpSpPr>
        <p:pic>
          <p:nvPicPr>
            <p:cNvPr id="5" name="Picture 4" descr="A yellow and black diamond&#10;&#10;AI-generated content may be incorrect.">
              <a:extLst>
                <a:ext uri="{FF2B5EF4-FFF2-40B4-BE49-F238E27FC236}">
                  <a16:creationId xmlns:a16="http://schemas.microsoft.com/office/drawing/2014/main" id="{8182F951-BC4A-975C-37FD-F4710D2D1F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4457" y="4002748"/>
              <a:ext cx="8068987" cy="1220688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B87EC32-B007-78FB-0EFC-149AB3B82D80}"/>
                </a:ext>
              </a:extLst>
            </p:cNvPr>
            <p:cNvSpPr txBox="1"/>
            <p:nvPr/>
          </p:nvSpPr>
          <p:spPr>
            <a:xfrm>
              <a:off x="8998957" y="4458489"/>
              <a:ext cx="971156" cy="454047"/>
            </a:xfrm>
            <a:prstGeom prst="rect">
              <a:avLst/>
            </a:prstGeom>
          </p:spPr>
          <p:txBody>
            <a:bodyPr vert="horz" wrap="square" lIns="72000" tIns="36000" rIns="72000" bIns="36000" rtlCol="0" anchor="t">
              <a:noAutofit/>
            </a:bodyPr>
            <a:lstStyle/>
            <a:p>
              <a:pPr marR="0" algn="l" defTabSz="914400" rtl="0" eaLnBrk="1" fontAlgn="base" latinLnBrk="0" hangingPunct="1">
                <a:lnSpc>
                  <a:spcPct val="100000"/>
                </a:lnSpc>
                <a:spcBef>
                  <a:spcPts val="80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en-US" sz="2000" b="0" i="0" u="none" strike="noStrike" kern="100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… …</a:t>
              </a:r>
            </a:p>
          </p:txBody>
        </p:sp>
      </p:grpSp>
      <p:pic>
        <p:nvPicPr>
          <p:cNvPr id="7" name="Picture 6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FF01421B-1AA2-3D36-0FB9-54D5625EE9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75" y="1663813"/>
            <a:ext cx="11956450" cy="2274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043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ACE09A1-5A9D-C4EF-7FC6-F946CFC0A5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0184099"/>
              </p:ext>
            </p:extLst>
          </p:nvPr>
        </p:nvGraphicFramePr>
        <p:xfrm>
          <a:off x="530942" y="2153434"/>
          <a:ext cx="11130116" cy="375909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782529">
                  <a:extLst>
                    <a:ext uri="{9D8B030D-6E8A-4147-A177-3AD203B41FA5}">
                      <a16:colId xmlns:a16="http://schemas.microsoft.com/office/drawing/2014/main" val="2034087068"/>
                    </a:ext>
                  </a:extLst>
                </a:gridCol>
                <a:gridCol w="2782529">
                  <a:extLst>
                    <a:ext uri="{9D8B030D-6E8A-4147-A177-3AD203B41FA5}">
                      <a16:colId xmlns:a16="http://schemas.microsoft.com/office/drawing/2014/main" val="3057077670"/>
                    </a:ext>
                  </a:extLst>
                </a:gridCol>
                <a:gridCol w="2782529">
                  <a:extLst>
                    <a:ext uri="{9D8B030D-6E8A-4147-A177-3AD203B41FA5}">
                      <a16:colId xmlns:a16="http://schemas.microsoft.com/office/drawing/2014/main" val="1506610283"/>
                    </a:ext>
                  </a:extLst>
                </a:gridCol>
                <a:gridCol w="2782529">
                  <a:extLst>
                    <a:ext uri="{9D8B030D-6E8A-4147-A177-3AD203B41FA5}">
                      <a16:colId xmlns:a16="http://schemas.microsoft.com/office/drawing/2014/main" val="1999042426"/>
                    </a:ext>
                  </a:extLst>
                </a:gridCol>
              </a:tblGrid>
              <a:tr h="437396">
                <a:tc>
                  <a:txBody>
                    <a:bodyPr/>
                    <a:lstStyle/>
                    <a:p>
                      <a:r>
                        <a:rPr lang="en-US" dirty="0"/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KEY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Character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8401736"/>
                  </a:ext>
                </a:extLst>
              </a:tr>
              <a:tr h="754958">
                <a:tc>
                  <a:txBody>
                    <a:bodyPr/>
                    <a:lstStyle/>
                    <a:p>
                      <a:r>
                        <a:rPr lang="en-US" b="1" dirty="0"/>
                        <a:t>Convergence 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learning_rate</a:t>
                      </a:r>
                      <a:r>
                        <a:rPr lang="en-US" dirty="0"/>
                        <a:t> </a:t>
                      </a:r>
                    </a:p>
                    <a:p>
                      <a:r>
                        <a:rPr lang="en-US" dirty="0" err="1"/>
                        <a:t>n_estimator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Step Size vs. Iteration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Learning Sustainability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691877"/>
                  </a:ext>
                </a:extLst>
              </a:tr>
              <a:tr h="754958">
                <a:tc>
                  <a:txBody>
                    <a:bodyPr/>
                    <a:lstStyle/>
                    <a:p>
                      <a:r>
                        <a:rPr lang="en-US" b="1" dirty="0"/>
                        <a:t>Structural Robustness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max_depth</a:t>
                      </a:r>
                      <a:endParaRPr lang="en-US" dirty="0"/>
                    </a:p>
                    <a:p>
                      <a:r>
                        <a:rPr lang="en-US" dirty="0" err="1"/>
                        <a:t>min_child_weight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Growth Space vs. Splitting Constraints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Model Parsimony</a:t>
                      </a:r>
                      <a:endParaRPr lang="en-US" b="1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688504"/>
                  </a:ext>
                </a:extLst>
              </a:tr>
              <a:tr h="897386">
                <a:tc>
                  <a:txBody>
                    <a:bodyPr/>
                    <a:lstStyle/>
                    <a:p>
                      <a:r>
                        <a:rPr lang="en-US" b="1" dirty="0"/>
                        <a:t>Generalization </a:t>
                      </a:r>
                    </a:p>
                    <a:p>
                      <a:r>
                        <a:rPr lang="en-US" b="1" dirty="0"/>
                        <a:t>Resilience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subsample</a:t>
                      </a:r>
                    </a:p>
                    <a:p>
                      <a:r>
                        <a:rPr lang="en-US" dirty="0" err="1"/>
                        <a:t>colsubsample_bytree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Information Integrity vs. Stochastic Noise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Generalization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801611"/>
                  </a:ext>
                </a:extLst>
              </a:tr>
              <a:tr h="437396">
                <a:tc>
                  <a:txBody>
                    <a:bodyPr/>
                    <a:lstStyle/>
                    <a:p>
                      <a:r>
                        <a:rPr lang="en-US" b="1" dirty="0"/>
                        <a:t>*Advanced Optimization:</a:t>
                      </a:r>
                    </a:p>
                    <a:p>
                      <a:r>
                        <a:rPr lang="en-US" b="1" dirty="0"/>
                        <a:t>Regularization &amp; Pruning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reg_alpha</a:t>
                      </a:r>
                      <a:endParaRPr lang="en-US" dirty="0"/>
                    </a:p>
                    <a:p>
                      <a:r>
                        <a:rPr lang="en-US" dirty="0" err="1"/>
                        <a:t>reg_lambda</a:t>
                      </a:r>
                      <a:endParaRPr lang="en-US" dirty="0"/>
                    </a:p>
                    <a:p>
                      <a:r>
                        <a:rPr lang="en-US" dirty="0"/>
                        <a:t>gamma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Structural Penalty &amp; Complexity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</a:t>
                      </a:r>
                      <a:r>
                        <a:rPr lang="en-US" b="1" dirty="0"/>
                        <a:t>stringency</a:t>
                      </a:r>
                      <a:r>
                        <a:rPr lang="en-US" dirty="0"/>
                        <a:t> of the learning algorithm imposed on the model.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1568164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1140135D-D484-BBE8-3344-B7EA7A2ED9F9}"/>
              </a:ext>
            </a:extLst>
          </p:cNvPr>
          <p:cNvSpPr txBox="1">
            <a:spLocks/>
          </p:cNvSpPr>
          <p:nvPr/>
        </p:nvSpPr>
        <p:spPr>
          <a:xfrm>
            <a:off x="429268" y="187249"/>
            <a:ext cx="10521950" cy="10810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Parameter Tuning Strategy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FC2F73D-BA07-AF7C-552D-01B1021A7F7F}"/>
              </a:ext>
            </a:extLst>
          </p:cNvPr>
          <p:cNvSpPr txBox="1">
            <a:spLocks/>
          </p:cNvSpPr>
          <p:nvPr/>
        </p:nvSpPr>
        <p:spPr>
          <a:xfrm>
            <a:off x="435618" y="1395037"/>
            <a:ext cx="10515600" cy="408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Multi-dimensional tuning strategy – decoupling and synergy for XGBoost</a:t>
            </a:r>
          </a:p>
        </p:txBody>
      </p:sp>
    </p:spTree>
    <p:extLst>
      <p:ext uri="{BB962C8B-B14F-4D97-AF65-F5344CB8AC3E}">
        <p14:creationId xmlns:p14="http://schemas.microsoft.com/office/powerpoint/2010/main" val="2281749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7A8CA51C-3C57-54C2-4233-FD07FB29F5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74743" y="0"/>
            <a:ext cx="7792927" cy="3292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C95E2BF4-716E-99AE-31D8-0A9E659D4E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4743" y="3546610"/>
            <a:ext cx="7792928" cy="3298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8291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9C7FA742-7415-936E-3D6C-0D9343390D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8959" y="76199"/>
            <a:ext cx="7854079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15DFCD77-4588-83E1-516F-C742E754A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8960" y="3428999"/>
            <a:ext cx="7854079" cy="3429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9974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C97BAC0C-98AF-7187-657A-F7444BCF23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61883" y="0"/>
            <a:ext cx="8068234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5E5569CF-FD5B-5403-49E6-5A760B9EFC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3452" y="3429000"/>
            <a:ext cx="7756545" cy="3286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3304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A677C-311B-15C2-6C34-58907F8C7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998" y="342297"/>
            <a:ext cx="10521950" cy="632916"/>
          </a:xfrm>
        </p:spPr>
        <p:txBody>
          <a:bodyPr/>
          <a:lstStyle/>
          <a:p>
            <a:r>
              <a:rPr lang="en-US" dirty="0"/>
              <a:t>Model Evaluation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531D2-F67F-E050-AB53-75BE7612D80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0023" y="1282025"/>
            <a:ext cx="11233150" cy="2079849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/>
              <a:t>Evaluate ML models through key metrics</a:t>
            </a:r>
          </a:p>
          <a:p>
            <a:pPr lvl="1">
              <a:spcBef>
                <a:spcPts val="400"/>
              </a:spcBef>
            </a:pPr>
            <a:r>
              <a:rPr lang="en-US" sz="1500" b="1" dirty="0"/>
              <a:t>Accuracy</a:t>
            </a:r>
            <a:r>
              <a:rPr lang="en-US" sz="1500" dirty="0"/>
              <a:t>: proportion of correct predictions</a:t>
            </a:r>
          </a:p>
          <a:p>
            <a:pPr lvl="1">
              <a:spcBef>
                <a:spcPts val="400"/>
              </a:spcBef>
            </a:pPr>
            <a:r>
              <a:rPr lang="en-US" sz="1500" b="1" dirty="0"/>
              <a:t>Precision</a:t>
            </a:r>
            <a:r>
              <a:rPr lang="en-US" sz="1500" dirty="0"/>
              <a:t>: the radio of true positive predictions</a:t>
            </a:r>
          </a:p>
          <a:p>
            <a:pPr lvl="1">
              <a:spcBef>
                <a:spcPts val="400"/>
              </a:spcBef>
            </a:pPr>
            <a:r>
              <a:rPr lang="en-US" sz="1500" b="1" dirty="0"/>
              <a:t>Recall</a:t>
            </a:r>
            <a:r>
              <a:rPr lang="en-US" sz="1500" dirty="0"/>
              <a:t>: the proportion of actual positives that were correctly identified</a:t>
            </a:r>
          </a:p>
          <a:p>
            <a:pPr lvl="1">
              <a:spcBef>
                <a:spcPts val="400"/>
              </a:spcBef>
            </a:pPr>
            <a:r>
              <a:rPr lang="en-US" sz="1500" b="1" dirty="0"/>
              <a:t>F1-Score</a:t>
            </a:r>
            <a:r>
              <a:rPr lang="en-US" sz="1500" dirty="0"/>
              <a:t>: the harmonic mean of precision and recall</a:t>
            </a:r>
          </a:p>
          <a:p>
            <a:pPr lvl="1">
              <a:spcBef>
                <a:spcPts val="400"/>
              </a:spcBef>
            </a:pPr>
            <a:endParaRPr lang="en-US" sz="1400" dirty="0"/>
          </a:p>
          <a:p>
            <a:pPr marL="457200" lvl="1" indent="0">
              <a:spcBef>
                <a:spcPts val="400"/>
              </a:spcBef>
              <a:buNone/>
            </a:pPr>
            <a:endParaRPr lang="en-US" sz="1400" dirty="0"/>
          </a:p>
          <a:p>
            <a:pPr>
              <a:spcBef>
                <a:spcPts val="400"/>
              </a:spcBef>
            </a:pPr>
            <a:r>
              <a:rPr lang="en-US" dirty="0"/>
              <a:t>Feature importance list based on different models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9DB651-AAF1-34DF-04B8-8244CF5C4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9750" y="1260763"/>
            <a:ext cx="5122227" cy="138995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8DFF25C7-96DF-FF0C-69E7-3F89ECCE0597}"/>
              </a:ext>
            </a:extLst>
          </p:cNvPr>
          <p:cNvGrpSpPr/>
          <p:nvPr/>
        </p:nvGrpSpPr>
        <p:grpSpPr>
          <a:xfrm>
            <a:off x="4085892" y="3383136"/>
            <a:ext cx="3634023" cy="3109823"/>
            <a:chOff x="6864324" y="3266679"/>
            <a:chExt cx="3461496" cy="3036084"/>
          </a:xfrm>
        </p:grpSpPr>
        <p:pic>
          <p:nvPicPr>
            <p:cNvPr id="9" name="Picture 8" descr="A graph with blue bars&#10;&#10;AI-generated content may be incorrect.">
              <a:extLst>
                <a:ext uri="{FF2B5EF4-FFF2-40B4-BE49-F238E27FC236}">
                  <a16:creationId xmlns:a16="http://schemas.microsoft.com/office/drawing/2014/main" id="{DF8A0581-922F-B42F-AFE3-CCF1DD665C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64324" y="3545458"/>
              <a:ext cx="3461496" cy="2757305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002986E-22A3-B48F-F911-589ABDAE711A}"/>
                </a:ext>
              </a:extLst>
            </p:cNvPr>
            <p:cNvSpPr txBox="1"/>
            <p:nvPr/>
          </p:nvSpPr>
          <p:spPr>
            <a:xfrm>
              <a:off x="8338866" y="3266679"/>
              <a:ext cx="914400" cy="324644"/>
            </a:xfrm>
            <a:prstGeom prst="rect">
              <a:avLst/>
            </a:prstGeom>
          </p:spPr>
          <p:txBody>
            <a:bodyPr vert="horz" wrap="none" lIns="72000" tIns="36000" rIns="72000" bIns="36000" rtlCol="0" anchor="t">
              <a:noAutofit/>
            </a:bodyPr>
            <a:lstStyle/>
            <a:p>
              <a:pPr marR="0" algn="l" defTabSz="914400" rtl="0" eaLnBrk="1" fontAlgn="base" latinLnBrk="0" hangingPunct="1">
                <a:lnSpc>
                  <a:spcPct val="100000"/>
                </a:lnSpc>
                <a:spcBef>
                  <a:spcPts val="80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en-US" sz="1400" b="0" i="0" u="none" strike="noStrike" kern="100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Ericsson Hilda"/>
                  <a:ea typeface="+mn-ea"/>
                  <a:cs typeface="+mn-cs"/>
                </a:rPr>
                <a:t>XGBoost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93FD95F-5B11-DB44-9009-A87764A1492B}"/>
              </a:ext>
            </a:extLst>
          </p:cNvPr>
          <p:cNvGrpSpPr/>
          <p:nvPr/>
        </p:nvGrpSpPr>
        <p:grpSpPr>
          <a:xfrm>
            <a:off x="733511" y="3383136"/>
            <a:ext cx="3352381" cy="2998614"/>
            <a:chOff x="733511" y="3383136"/>
            <a:chExt cx="3352381" cy="2998614"/>
          </a:xfrm>
        </p:grpSpPr>
        <p:pic>
          <p:nvPicPr>
            <p:cNvPr id="5" name="Picture 4" descr="A graph with blue and white bars&#10;&#10;AI-generated content may be incorrect.">
              <a:extLst>
                <a:ext uri="{FF2B5EF4-FFF2-40B4-BE49-F238E27FC236}">
                  <a16:creationId xmlns:a16="http://schemas.microsoft.com/office/drawing/2014/main" id="{1BD02269-9BE8-8BC6-4296-01891CA2CB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3511" y="3711362"/>
              <a:ext cx="3352381" cy="2670388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397F1AE-469A-110E-177B-B4FAA89235BE}"/>
                </a:ext>
              </a:extLst>
            </p:cNvPr>
            <p:cNvSpPr txBox="1"/>
            <p:nvPr/>
          </p:nvSpPr>
          <p:spPr>
            <a:xfrm>
              <a:off x="2046759" y="3383136"/>
              <a:ext cx="914400" cy="324644"/>
            </a:xfrm>
            <a:prstGeom prst="rect">
              <a:avLst/>
            </a:prstGeom>
          </p:spPr>
          <p:txBody>
            <a:bodyPr vert="horz" wrap="none" lIns="72000" tIns="36000" rIns="72000" bIns="36000" rtlCol="0" anchor="t">
              <a:noAutofit/>
            </a:bodyPr>
            <a:lstStyle/>
            <a:p>
              <a:pPr marR="0" algn="l" defTabSz="914400" rtl="0" eaLnBrk="1" fontAlgn="base" latinLnBrk="0" hangingPunct="1">
                <a:lnSpc>
                  <a:spcPct val="100000"/>
                </a:lnSpc>
                <a:spcBef>
                  <a:spcPts val="80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en-US" sz="1400" b="0" i="0" u="none" strike="noStrike" kern="100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Ericsson Hilda"/>
                  <a:ea typeface="+mn-ea"/>
                  <a:cs typeface="+mn-cs"/>
                </a:rPr>
                <a:t>LightGBM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44CCAF4-1C17-3B1C-F689-E2E386F57AA7}"/>
              </a:ext>
            </a:extLst>
          </p:cNvPr>
          <p:cNvGrpSpPr/>
          <p:nvPr/>
        </p:nvGrpSpPr>
        <p:grpSpPr>
          <a:xfrm>
            <a:off x="7960600" y="3365456"/>
            <a:ext cx="3572917" cy="3150247"/>
            <a:chOff x="7960600" y="3365456"/>
            <a:chExt cx="3572917" cy="3150247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60ACB66-F141-F539-40E1-264439A7A57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60600" y="3668685"/>
              <a:ext cx="3572917" cy="2847018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2FDAF1F-448A-AC66-6520-664F37C7354D}"/>
                </a:ext>
              </a:extLst>
            </p:cNvPr>
            <p:cNvSpPr txBox="1"/>
            <p:nvPr/>
          </p:nvSpPr>
          <p:spPr>
            <a:xfrm>
              <a:off x="9504313" y="3365456"/>
              <a:ext cx="959975" cy="332529"/>
            </a:xfrm>
            <a:prstGeom prst="rect">
              <a:avLst/>
            </a:prstGeom>
          </p:spPr>
          <p:txBody>
            <a:bodyPr vert="horz" wrap="none" lIns="72000" tIns="36000" rIns="72000" bIns="36000" rtlCol="0" anchor="t">
              <a:noAutofit/>
            </a:bodyPr>
            <a:lstStyle/>
            <a:p>
              <a:pPr marR="0" algn="l" defTabSz="914400" rtl="0" eaLnBrk="1" fontAlgn="base" latinLnBrk="0" hangingPunct="1">
                <a:lnSpc>
                  <a:spcPct val="100000"/>
                </a:lnSpc>
                <a:spcBef>
                  <a:spcPts val="80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en-US" altLang="zh-CN" sz="1400" b="0" i="0" u="none" strike="noStrike" kern="100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Ericsson Hilda"/>
                  <a:ea typeface="+mn-ea"/>
                  <a:cs typeface="+mn-cs"/>
                </a:rPr>
                <a:t>TabNet</a:t>
              </a:r>
              <a:endParaRPr kumimoji="0" lang="en-US" sz="1400" b="0" i="0" u="none" strike="noStrike" kern="100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Ericsson Hilda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1591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CCC45-BE26-5AEA-B0C5-F6420AEEE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016FB-1DC6-F1DB-070F-AEA8D3638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011" y="105068"/>
            <a:ext cx="11677738" cy="600904"/>
          </a:xfrm>
        </p:spPr>
        <p:txBody>
          <a:bodyPr/>
          <a:lstStyle/>
          <a:p>
            <a:r>
              <a:rPr lang="en-US" dirty="0"/>
              <a:t>Validation without CGAN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9410A40-7971-0740-8A0D-3F302194A3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183096"/>
              </p:ext>
            </p:extLst>
          </p:nvPr>
        </p:nvGraphicFramePr>
        <p:xfrm>
          <a:off x="841254" y="4591454"/>
          <a:ext cx="8477645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5314">
                  <a:extLst>
                    <a:ext uri="{9D8B030D-6E8A-4147-A177-3AD203B41FA5}">
                      <a16:colId xmlns:a16="http://schemas.microsoft.com/office/drawing/2014/main" val="3444235744"/>
                    </a:ext>
                  </a:extLst>
                </a:gridCol>
                <a:gridCol w="1317997">
                  <a:extLst>
                    <a:ext uri="{9D8B030D-6E8A-4147-A177-3AD203B41FA5}">
                      <a16:colId xmlns:a16="http://schemas.microsoft.com/office/drawing/2014/main" val="321848539"/>
                    </a:ext>
                  </a:extLst>
                </a:gridCol>
                <a:gridCol w="1664839">
                  <a:extLst>
                    <a:ext uri="{9D8B030D-6E8A-4147-A177-3AD203B41FA5}">
                      <a16:colId xmlns:a16="http://schemas.microsoft.com/office/drawing/2014/main" val="275196285"/>
                    </a:ext>
                  </a:extLst>
                </a:gridCol>
                <a:gridCol w="1532408">
                  <a:extLst>
                    <a:ext uri="{9D8B030D-6E8A-4147-A177-3AD203B41FA5}">
                      <a16:colId xmlns:a16="http://schemas.microsoft.com/office/drawing/2014/main" val="855845532"/>
                    </a:ext>
                  </a:extLst>
                </a:gridCol>
                <a:gridCol w="1917087">
                  <a:extLst>
                    <a:ext uri="{9D8B030D-6E8A-4147-A177-3AD203B41FA5}">
                      <a16:colId xmlns:a16="http://schemas.microsoft.com/office/drawing/2014/main" val="2644934163"/>
                    </a:ext>
                  </a:extLst>
                </a:gridCol>
              </a:tblGrid>
              <a:tr h="143180">
                <a:tc gridSpan="5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XGBoost Prediction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2918712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Categories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Milano PA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Milano Non-PA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Stockholm PA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Stockholm Non-PA Issue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21332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</a:rPr>
                        <a:t>Samples to be Predicted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852107"/>
                  </a:ext>
                </a:extLst>
              </a:tr>
              <a:tr h="13148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</a:rPr>
                        <a:t>Successfully Predicted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890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</a:rPr>
                        <a:t>Prediction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B050"/>
                          </a:solidFill>
                        </a:rPr>
                        <a:t>87%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C7B639"/>
                          </a:solidFill>
                        </a:rPr>
                        <a:t>61.5%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B050"/>
                          </a:solidFill>
                        </a:rPr>
                        <a:t>91.3%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C7B639"/>
                          </a:solidFill>
                        </a:rPr>
                        <a:t>63.2%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561162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AE873A7-4425-8D5D-B939-D514E4091A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771768"/>
              </p:ext>
            </p:extLst>
          </p:nvPr>
        </p:nvGraphicFramePr>
        <p:xfrm>
          <a:off x="841252" y="2538908"/>
          <a:ext cx="8477645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5314">
                  <a:extLst>
                    <a:ext uri="{9D8B030D-6E8A-4147-A177-3AD203B41FA5}">
                      <a16:colId xmlns:a16="http://schemas.microsoft.com/office/drawing/2014/main" val="3444235744"/>
                    </a:ext>
                  </a:extLst>
                </a:gridCol>
                <a:gridCol w="1317997">
                  <a:extLst>
                    <a:ext uri="{9D8B030D-6E8A-4147-A177-3AD203B41FA5}">
                      <a16:colId xmlns:a16="http://schemas.microsoft.com/office/drawing/2014/main" val="321848539"/>
                    </a:ext>
                  </a:extLst>
                </a:gridCol>
                <a:gridCol w="1664839">
                  <a:extLst>
                    <a:ext uri="{9D8B030D-6E8A-4147-A177-3AD203B41FA5}">
                      <a16:colId xmlns:a16="http://schemas.microsoft.com/office/drawing/2014/main" val="275196285"/>
                    </a:ext>
                  </a:extLst>
                </a:gridCol>
                <a:gridCol w="1532408">
                  <a:extLst>
                    <a:ext uri="{9D8B030D-6E8A-4147-A177-3AD203B41FA5}">
                      <a16:colId xmlns:a16="http://schemas.microsoft.com/office/drawing/2014/main" val="855845532"/>
                    </a:ext>
                  </a:extLst>
                </a:gridCol>
                <a:gridCol w="1917087">
                  <a:extLst>
                    <a:ext uri="{9D8B030D-6E8A-4147-A177-3AD203B41FA5}">
                      <a16:colId xmlns:a16="http://schemas.microsoft.com/office/drawing/2014/main" val="2644934163"/>
                    </a:ext>
                  </a:extLst>
                </a:gridCol>
              </a:tblGrid>
              <a:tr h="143180">
                <a:tc gridSpan="5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LightGBM Prediction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2918712"/>
                  </a:ext>
                </a:extLst>
              </a:tr>
              <a:tr h="154432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Categories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Milano PA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Milano Non-PA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Stockholm PA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Stockholm Non-PA Issue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21332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</a:rPr>
                        <a:t>Samples to be Predicted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852107"/>
                  </a:ext>
                </a:extLst>
              </a:tr>
              <a:tr h="26231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</a:rPr>
                        <a:t>Successfully Predicted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89062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</a:rPr>
                        <a:t>Prediction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B050"/>
                          </a:solidFill>
                        </a:rPr>
                        <a:t>82%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C7B639"/>
                          </a:solidFill>
                        </a:rPr>
                        <a:t>61.5%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B050"/>
                          </a:solidFill>
                        </a:rPr>
                        <a:t>90.2%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C7B639"/>
                          </a:solidFill>
                        </a:rPr>
                        <a:t>61.4%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561162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02A3729-4C63-4C19-F75D-EDC9D74520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7975868"/>
              </p:ext>
            </p:extLst>
          </p:nvPr>
        </p:nvGraphicFramePr>
        <p:xfrm>
          <a:off x="841252" y="840632"/>
          <a:ext cx="8477645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5314">
                  <a:extLst>
                    <a:ext uri="{9D8B030D-6E8A-4147-A177-3AD203B41FA5}">
                      <a16:colId xmlns:a16="http://schemas.microsoft.com/office/drawing/2014/main" val="3444235744"/>
                    </a:ext>
                  </a:extLst>
                </a:gridCol>
                <a:gridCol w="1317997">
                  <a:extLst>
                    <a:ext uri="{9D8B030D-6E8A-4147-A177-3AD203B41FA5}">
                      <a16:colId xmlns:a16="http://schemas.microsoft.com/office/drawing/2014/main" val="321848539"/>
                    </a:ext>
                  </a:extLst>
                </a:gridCol>
                <a:gridCol w="1664839">
                  <a:extLst>
                    <a:ext uri="{9D8B030D-6E8A-4147-A177-3AD203B41FA5}">
                      <a16:colId xmlns:a16="http://schemas.microsoft.com/office/drawing/2014/main" val="275196285"/>
                    </a:ext>
                  </a:extLst>
                </a:gridCol>
                <a:gridCol w="1532408">
                  <a:extLst>
                    <a:ext uri="{9D8B030D-6E8A-4147-A177-3AD203B41FA5}">
                      <a16:colId xmlns:a16="http://schemas.microsoft.com/office/drawing/2014/main" val="855845532"/>
                    </a:ext>
                  </a:extLst>
                </a:gridCol>
                <a:gridCol w="1917087">
                  <a:extLst>
                    <a:ext uri="{9D8B030D-6E8A-4147-A177-3AD203B41FA5}">
                      <a16:colId xmlns:a16="http://schemas.microsoft.com/office/drawing/2014/main" val="2644934163"/>
                    </a:ext>
                  </a:extLst>
                </a:gridCol>
              </a:tblGrid>
              <a:tr h="143180">
                <a:tc gridSpan="5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TabNet Prediction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2918712"/>
                  </a:ext>
                </a:extLst>
              </a:tr>
              <a:tr h="21463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Categories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Milano PA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Milano Non-PA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Stockholm PA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Stockholm Non-PA Issue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21332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</a:rPr>
                        <a:t>Samples to be Predicted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85210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</a:rPr>
                        <a:t>Successfully Predicted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89062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</a:rPr>
                        <a:t>Prediction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C7B639"/>
                          </a:solidFill>
                        </a:rPr>
                        <a:t>73.9%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C7B639"/>
                          </a:solidFill>
                        </a:rPr>
                        <a:t>69.2%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C7B639"/>
                          </a:solidFill>
                        </a:rPr>
                        <a:t>55.4%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C7B639"/>
                          </a:solidFill>
                        </a:rPr>
                        <a:t>64.9%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5611622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05CF925-22E9-7328-7A1B-7BF508BBD192}"/>
              </a:ext>
            </a:extLst>
          </p:cNvPr>
          <p:cNvSpPr txBox="1">
            <a:spLocks/>
          </p:cNvSpPr>
          <p:nvPr/>
        </p:nvSpPr>
        <p:spPr>
          <a:xfrm>
            <a:off x="2873101" y="6176414"/>
            <a:ext cx="1808860" cy="5765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72000" tIns="36000" rIns="72000" bIns="36000" rtlCol="0">
            <a:noAutofit/>
          </a:bodyPr>
          <a:lstStyle>
            <a:lvl1pPr marL="265113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7305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–"/>
              <a:defRPr sz="2000" kern="1000" spc="-30">
                <a:solidFill>
                  <a:schemeClr val="tx1"/>
                </a:solidFill>
                <a:latin typeface="+mn-lt"/>
              </a:defRPr>
            </a:lvl2pPr>
            <a:lvl3pPr marL="803275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3pPr>
            <a:lvl4pPr marL="1076325" indent="-27305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–"/>
              <a:defRPr sz="2000" kern="1000" spc="-30">
                <a:solidFill>
                  <a:schemeClr val="tx1"/>
                </a:solidFill>
                <a:latin typeface="+mn-lt"/>
              </a:defRPr>
            </a:lvl4pPr>
            <a:lvl5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5pPr>
            <a:lvl6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6pPr>
            <a:lvl7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7pPr>
            <a:lvl8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8pPr>
            <a:lvl9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highlight>
                  <a:srgbClr val="FFFF00"/>
                </a:highlight>
              </a:rPr>
              <a:t>False prediction SN: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/>
              <a:t>CN39854078 (4471</a:t>
            </a:r>
            <a:r>
              <a:rPr lang="en-US" altLang="zh-CN" sz="800" dirty="0"/>
              <a:t>HP B3</a:t>
            </a:r>
            <a:r>
              <a:rPr lang="en-US" sz="800" dirty="0"/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/>
              <a:t>CN3A015366 (2271 B0C)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/>
              <a:t>CN3A029786 (2271 B0C)</a:t>
            </a:r>
          </a:p>
          <a:p>
            <a:pPr marL="0" indent="0">
              <a:spcBef>
                <a:spcPts val="0"/>
              </a:spcBef>
              <a:buNone/>
            </a:pPr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DE2D1A7-D219-0793-7C3C-212408B08375}"/>
              </a:ext>
            </a:extLst>
          </p:cNvPr>
          <p:cNvSpPr txBox="1">
            <a:spLocks/>
          </p:cNvSpPr>
          <p:nvPr/>
        </p:nvSpPr>
        <p:spPr>
          <a:xfrm>
            <a:off x="9434824" y="2560859"/>
            <a:ext cx="2121261" cy="163105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72000" tIns="36000" rIns="72000" bIns="36000" rtlCol="0">
            <a:noAutofit/>
          </a:bodyPr>
          <a:lstStyle>
            <a:lvl1pPr marL="265113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7305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–"/>
              <a:defRPr sz="2000" kern="1000" spc="-30">
                <a:solidFill>
                  <a:schemeClr val="tx1"/>
                </a:solidFill>
                <a:latin typeface="+mn-lt"/>
              </a:defRPr>
            </a:lvl2pPr>
            <a:lvl3pPr marL="803275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3pPr>
            <a:lvl4pPr marL="1076325" indent="-27305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–"/>
              <a:defRPr sz="2000" kern="1000" spc="-30">
                <a:solidFill>
                  <a:schemeClr val="tx1"/>
                </a:solidFill>
                <a:latin typeface="+mn-lt"/>
              </a:defRPr>
            </a:lvl4pPr>
            <a:lvl5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5pPr>
            <a:lvl6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6pPr>
            <a:lvl7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7pPr>
            <a:lvl8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8pPr>
            <a:lvl9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highlight>
                  <a:srgbClr val="FFFF00"/>
                </a:highlight>
              </a:rPr>
              <a:t>False prediction SN: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1000" dirty="0"/>
              <a:t>E23E736355 (4490 B1B3)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1000" dirty="0"/>
              <a:t>E23F086295 (4490 B1B3)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1000" dirty="0"/>
              <a:t>E23F110761 (4490 B1B3)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1000" dirty="0"/>
              <a:t>E23F273614 (4490HP B1B3)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1000" dirty="0"/>
              <a:t>E23F454041 (4490HP B1B3)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1000" dirty="0"/>
              <a:t>TU8U02G5N4 (4490 B1B3)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1000" dirty="0"/>
              <a:t>TU8U02HUK2 (4490 B1B3)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1000" dirty="0"/>
              <a:t>TU8U02MCT0 (4485 B1B3B7)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/>
              <a:t>TU8U02UPFP (</a:t>
            </a:r>
            <a:r>
              <a:rPr lang="pt-BR" sz="1000" dirty="0"/>
              <a:t>4485 B1B3B7</a:t>
            </a:r>
            <a:r>
              <a:rPr lang="en-US" sz="1000" dirty="0"/>
              <a:t>)</a:t>
            </a:r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F93CA11-C5E2-723A-B1FB-277294E763A5}"/>
              </a:ext>
            </a:extLst>
          </p:cNvPr>
          <p:cNvSpPr txBox="1">
            <a:spLocks/>
          </p:cNvSpPr>
          <p:nvPr/>
        </p:nvSpPr>
        <p:spPr>
          <a:xfrm>
            <a:off x="2873101" y="4123868"/>
            <a:ext cx="1808860" cy="71229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72000" tIns="36000" rIns="72000" bIns="36000" rtlCol="0">
            <a:noAutofit/>
          </a:bodyPr>
          <a:lstStyle>
            <a:lvl1pPr marL="265113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7305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–"/>
              <a:defRPr sz="2000" kern="1000" spc="-30">
                <a:solidFill>
                  <a:schemeClr val="tx1"/>
                </a:solidFill>
                <a:latin typeface="+mn-lt"/>
              </a:defRPr>
            </a:lvl2pPr>
            <a:lvl3pPr marL="803275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3pPr>
            <a:lvl4pPr marL="1076325" indent="-27305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–"/>
              <a:defRPr sz="2000" kern="1000" spc="-30">
                <a:solidFill>
                  <a:schemeClr val="tx1"/>
                </a:solidFill>
                <a:latin typeface="+mn-lt"/>
              </a:defRPr>
            </a:lvl4pPr>
            <a:lvl5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5pPr>
            <a:lvl6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6pPr>
            <a:lvl7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7pPr>
            <a:lvl8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8pPr>
            <a:lvl9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highlight>
                  <a:srgbClr val="FFFF00"/>
                </a:highlight>
              </a:rPr>
              <a:t>False prediction SN: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/>
              <a:t>CN39854078 (4471HP B3)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/>
              <a:t>CN3A015366 (2271 B0C)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/>
              <a:t>CN3A029786 (2271 B0C)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/>
              <a:t>EA8C417136 (2271 B1)</a:t>
            </a:r>
            <a:endParaRPr lang="en-US" sz="800" dirty="0">
              <a:highlight>
                <a:srgbClr val="FFFF00"/>
              </a:highlight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6A8725A-D971-1E73-BBC1-70D81AAA775A}"/>
              </a:ext>
            </a:extLst>
          </p:cNvPr>
          <p:cNvSpPr txBox="1">
            <a:spLocks/>
          </p:cNvSpPr>
          <p:nvPr/>
        </p:nvSpPr>
        <p:spPr>
          <a:xfrm>
            <a:off x="9434825" y="4591454"/>
            <a:ext cx="2121261" cy="147907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72000" tIns="36000" rIns="72000" bIns="36000" rtlCol="0">
            <a:noAutofit/>
          </a:bodyPr>
          <a:lstStyle>
            <a:lvl1pPr marL="265113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7305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–"/>
              <a:defRPr sz="2000" kern="1000" spc="-30">
                <a:solidFill>
                  <a:schemeClr val="tx1"/>
                </a:solidFill>
                <a:latin typeface="+mn-lt"/>
              </a:defRPr>
            </a:lvl2pPr>
            <a:lvl3pPr marL="803275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3pPr>
            <a:lvl4pPr marL="1076325" indent="-27305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–"/>
              <a:defRPr sz="2000" kern="1000" spc="-30">
                <a:solidFill>
                  <a:schemeClr val="tx1"/>
                </a:solidFill>
                <a:latin typeface="+mn-lt"/>
              </a:defRPr>
            </a:lvl4pPr>
            <a:lvl5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5pPr>
            <a:lvl6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6pPr>
            <a:lvl7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7pPr>
            <a:lvl8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8pPr>
            <a:lvl9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highlight>
                  <a:srgbClr val="FFFF00"/>
                </a:highlight>
              </a:rPr>
              <a:t>False prediction SN: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1000" dirty="0"/>
              <a:t>E23E736355 (4490 B1B3)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1000" dirty="0"/>
              <a:t>E23F086295 (4490 B1B3)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1000" dirty="0"/>
              <a:t>E23F110761 (4490 B1B3)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1000" dirty="0"/>
              <a:t>E23F273614 (4490HP B1B3)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1000" dirty="0"/>
              <a:t>E23F454041 (4490HP B1B3)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1000" dirty="0"/>
              <a:t>TU8U02G5N4 (4490 B1B3)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1000" dirty="0"/>
              <a:t>TU8U02HUK2 (4490 B1B3)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1000" dirty="0"/>
              <a:t>TU8U02MCT0 (4485 B1B3B7)</a:t>
            </a:r>
            <a:endParaRPr lang="en-US" sz="1100" dirty="0">
              <a:highlight>
                <a:srgbClr val="FFFF00"/>
              </a:highlight>
            </a:endParaRPr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DEC98917-DD25-095C-93DD-873F27C053CD}"/>
              </a:ext>
            </a:extLst>
          </p:cNvPr>
          <p:cNvCxnSpPr>
            <a:cxnSpLocks/>
            <a:endCxn id="8" idx="0"/>
          </p:cNvCxnSpPr>
          <p:nvPr/>
        </p:nvCxnSpPr>
        <p:spPr bwMode="auto">
          <a:xfrm flipV="1">
            <a:off x="6938128" y="2560859"/>
            <a:ext cx="3557327" cy="1248003"/>
          </a:xfrm>
          <a:prstGeom prst="curvedConnector4">
            <a:avLst>
              <a:gd name="adj1" fmla="val 11507"/>
              <a:gd name="adj2" fmla="val 118317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B54C885F-F2A4-F45B-A5EC-CB4EA4C993F7}"/>
              </a:ext>
            </a:extLst>
          </p:cNvPr>
          <p:cNvCxnSpPr>
            <a:cxnSpLocks/>
            <a:endCxn id="11" idx="0"/>
          </p:cNvCxnSpPr>
          <p:nvPr/>
        </p:nvCxnSpPr>
        <p:spPr bwMode="auto">
          <a:xfrm flipV="1">
            <a:off x="7004404" y="4591454"/>
            <a:ext cx="3491052" cy="1322575"/>
          </a:xfrm>
          <a:prstGeom prst="curvedConnector4">
            <a:avLst>
              <a:gd name="adj1" fmla="val 11333"/>
              <a:gd name="adj2" fmla="val 117284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2336848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36AAA-D2F6-8D74-4CEE-23A5C94FA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56A91-679C-5969-6BD2-B4694E9D6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654" y="146695"/>
            <a:ext cx="11787948" cy="521644"/>
          </a:xfrm>
        </p:spPr>
        <p:txBody>
          <a:bodyPr/>
          <a:lstStyle/>
          <a:p>
            <a:r>
              <a:rPr lang="en-US" sz="3200" dirty="0"/>
              <a:t>Validation with CGAN (solve issue of imbalance of training samples)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8C2CC94-8A91-712A-E9B7-62CD3BD74142}"/>
              </a:ext>
            </a:extLst>
          </p:cNvPr>
          <p:cNvGraphicFramePr>
            <a:graphicFrameLocks noGrp="1"/>
          </p:cNvGraphicFramePr>
          <p:nvPr/>
        </p:nvGraphicFramePr>
        <p:xfrm>
          <a:off x="841256" y="4851241"/>
          <a:ext cx="8477645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5314">
                  <a:extLst>
                    <a:ext uri="{9D8B030D-6E8A-4147-A177-3AD203B41FA5}">
                      <a16:colId xmlns:a16="http://schemas.microsoft.com/office/drawing/2014/main" val="3444235744"/>
                    </a:ext>
                  </a:extLst>
                </a:gridCol>
                <a:gridCol w="1317997">
                  <a:extLst>
                    <a:ext uri="{9D8B030D-6E8A-4147-A177-3AD203B41FA5}">
                      <a16:colId xmlns:a16="http://schemas.microsoft.com/office/drawing/2014/main" val="321848539"/>
                    </a:ext>
                  </a:extLst>
                </a:gridCol>
                <a:gridCol w="1664839">
                  <a:extLst>
                    <a:ext uri="{9D8B030D-6E8A-4147-A177-3AD203B41FA5}">
                      <a16:colId xmlns:a16="http://schemas.microsoft.com/office/drawing/2014/main" val="275196285"/>
                    </a:ext>
                  </a:extLst>
                </a:gridCol>
                <a:gridCol w="1532408">
                  <a:extLst>
                    <a:ext uri="{9D8B030D-6E8A-4147-A177-3AD203B41FA5}">
                      <a16:colId xmlns:a16="http://schemas.microsoft.com/office/drawing/2014/main" val="855845532"/>
                    </a:ext>
                  </a:extLst>
                </a:gridCol>
                <a:gridCol w="1917087">
                  <a:extLst>
                    <a:ext uri="{9D8B030D-6E8A-4147-A177-3AD203B41FA5}">
                      <a16:colId xmlns:a16="http://schemas.microsoft.com/office/drawing/2014/main" val="2644934163"/>
                    </a:ext>
                  </a:extLst>
                </a:gridCol>
              </a:tblGrid>
              <a:tr h="143180">
                <a:tc gridSpan="5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XGBoost Prediction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2918712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Categories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Milano PA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Milano Non-PA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Stockholm PA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Stockholm Non-PA Issue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21332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</a:rPr>
                        <a:t>Samples to be Predicted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852107"/>
                  </a:ext>
                </a:extLst>
              </a:tr>
              <a:tr h="13148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</a:rPr>
                        <a:t>Successfully Predicted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890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</a:rPr>
                        <a:t>Prediction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B050"/>
                          </a:solidFill>
                        </a:rPr>
                        <a:t>87%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B050"/>
                          </a:solidFill>
                        </a:rPr>
                        <a:t>84.6%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B050"/>
                          </a:solidFill>
                        </a:rPr>
                        <a:t>91.3%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B050"/>
                          </a:solidFill>
                        </a:rPr>
                        <a:t>86%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561162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FA13796-B8EA-9A69-5D26-B157D98D4242}"/>
              </a:ext>
            </a:extLst>
          </p:cNvPr>
          <p:cNvGraphicFramePr>
            <a:graphicFrameLocks noGrp="1"/>
          </p:cNvGraphicFramePr>
          <p:nvPr/>
        </p:nvGraphicFramePr>
        <p:xfrm>
          <a:off x="841254" y="2816615"/>
          <a:ext cx="8477645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5314">
                  <a:extLst>
                    <a:ext uri="{9D8B030D-6E8A-4147-A177-3AD203B41FA5}">
                      <a16:colId xmlns:a16="http://schemas.microsoft.com/office/drawing/2014/main" val="3444235744"/>
                    </a:ext>
                  </a:extLst>
                </a:gridCol>
                <a:gridCol w="1317997">
                  <a:extLst>
                    <a:ext uri="{9D8B030D-6E8A-4147-A177-3AD203B41FA5}">
                      <a16:colId xmlns:a16="http://schemas.microsoft.com/office/drawing/2014/main" val="321848539"/>
                    </a:ext>
                  </a:extLst>
                </a:gridCol>
                <a:gridCol w="1664839">
                  <a:extLst>
                    <a:ext uri="{9D8B030D-6E8A-4147-A177-3AD203B41FA5}">
                      <a16:colId xmlns:a16="http://schemas.microsoft.com/office/drawing/2014/main" val="275196285"/>
                    </a:ext>
                  </a:extLst>
                </a:gridCol>
                <a:gridCol w="1532408">
                  <a:extLst>
                    <a:ext uri="{9D8B030D-6E8A-4147-A177-3AD203B41FA5}">
                      <a16:colId xmlns:a16="http://schemas.microsoft.com/office/drawing/2014/main" val="855845532"/>
                    </a:ext>
                  </a:extLst>
                </a:gridCol>
                <a:gridCol w="1917087">
                  <a:extLst>
                    <a:ext uri="{9D8B030D-6E8A-4147-A177-3AD203B41FA5}">
                      <a16:colId xmlns:a16="http://schemas.microsoft.com/office/drawing/2014/main" val="2644934163"/>
                    </a:ext>
                  </a:extLst>
                </a:gridCol>
              </a:tblGrid>
              <a:tr h="143180">
                <a:tc gridSpan="5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LightGBM Prediction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2918712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Categories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Milano PA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Milano Non-PA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Stockholm PA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Stockholm Non-PA Issue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21332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</a:rPr>
                        <a:t>Samples to be Predicted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85210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</a:rPr>
                        <a:t>Successfully Predicted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89062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</a:rPr>
                        <a:t>Prediction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B050"/>
                          </a:solidFill>
                        </a:rPr>
                        <a:t>82%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B050"/>
                          </a:solidFill>
                        </a:rPr>
                        <a:t>84.6%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B050"/>
                          </a:solidFill>
                        </a:rPr>
                        <a:t>90.2%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B050"/>
                          </a:solidFill>
                        </a:rPr>
                        <a:t>86%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561162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547FB42-A365-C288-BCB1-D980038A54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56501"/>
              </p:ext>
            </p:extLst>
          </p:nvPr>
        </p:nvGraphicFramePr>
        <p:xfrm>
          <a:off x="841253" y="835445"/>
          <a:ext cx="8477645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5314">
                  <a:extLst>
                    <a:ext uri="{9D8B030D-6E8A-4147-A177-3AD203B41FA5}">
                      <a16:colId xmlns:a16="http://schemas.microsoft.com/office/drawing/2014/main" val="3444235744"/>
                    </a:ext>
                  </a:extLst>
                </a:gridCol>
                <a:gridCol w="1317997">
                  <a:extLst>
                    <a:ext uri="{9D8B030D-6E8A-4147-A177-3AD203B41FA5}">
                      <a16:colId xmlns:a16="http://schemas.microsoft.com/office/drawing/2014/main" val="321848539"/>
                    </a:ext>
                  </a:extLst>
                </a:gridCol>
                <a:gridCol w="1664839">
                  <a:extLst>
                    <a:ext uri="{9D8B030D-6E8A-4147-A177-3AD203B41FA5}">
                      <a16:colId xmlns:a16="http://schemas.microsoft.com/office/drawing/2014/main" val="275196285"/>
                    </a:ext>
                  </a:extLst>
                </a:gridCol>
                <a:gridCol w="1532408">
                  <a:extLst>
                    <a:ext uri="{9D8B030D-6E8A-4147-A177-3AD203B41FA5}">
                      <a16:colId xmlns:a16="http://schemas.microsoft.com/office/drawing/2014/main" val="855845532"/>
                    </a:ext>
                  </a:extLst>
                </a:gridCol>
                <a:gridCol w="1917087">
                  <a:extLst>
                    <a:ext uri="{9D8B030D-6E8A-4147-A177-3AD203B41FA5}">
                      <a16:colId xmlns:a16="http://schemas.microsoft.com/office/drawing/2014/main" val="2644934163"/>
                    </a:ext>
                  </a:extLst>
                </a:gridCol>
              </a:tblGrid>
              <a:tr h="143180">
                <a:tc gridSpan="5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TabNet Prediction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2918712"/>
                  </a:ext>
                </a:extLst>
              </a:tr>
              <a:tr h="21463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Categories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Milano PA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Milano Non-PA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Stockholm PA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Stockholm Non-PA Issue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21332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</a:rPr>
                        <a:t>Samples to be Predicted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85210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</a:rPr>
                        <a:t>Successfully Predicted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89062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</a:rPr>
                        <a:t>Prediction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C7B639"/>
                          </a:solidFill>
                        </a:rPr>
                        <a:t>73.9%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B050"/>
                          </a:solidFill>
                        </a:rPr>
                        <a:t>92.31%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C7B639"/>
                          </a:solidFill>
                        </a:rPr>
                        <a:t>55.4%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B050"/>
                          </a:solidFill>
                        </a:rPr>
                        <a:t>92.9%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5611622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E4924-E08B-4E57-71AE-6E78FA17A9A6}"/>
              </a:ext>
            </a:extLst>
          </p:cNvPr>
          <p:cNvSpPr txBox="1">
            <a:spLocks/>
          </p:cNvSpPr>
          <p:nvPr/>
        </p:nvSpPr>
        <p:spPr>
          <a:xfrm>
            <a:off x="4228834" y="6445249"/>
            <a:ext cx="1754672" cy="59735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72000" tIns="36000" rIns="72000" bIns="36000" rtlCol="0">
            <a:noAutofit/>
          </a:bodyPr>
          <a:lstStyle>
            <a:lvl1pPr marL="265113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7305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–"/>
              <a:defRPr sz="2000" kern="1000" spc="-30">
                <a:solidFill>
                  <a:schemeClr val="tx1"/>
                </a:solidFill>
                <a:latin typeface="+mn-lt"/>
              </a:defRPr>
            </a:lvl2pPr>
            <a:lvl3pPr marL="803275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3pPr>
            <a:lvl4pPr marL="1076325" indent="-27305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–"/>
              <a:defRPr sz="2000" kern="1000" spc="-30">
                <a:solidFill>
                  <a:schemeClr val="tx1"/>
                </a:solidFill>
                <a:latin typeface="+mn-lt"/>
              </a:defRPr>
            </a:lvl4pPr>
            <a:lvl5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5pPr>
            <a:lvl6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6pPr>
            <a:lvl7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7pPr>
            <a:lvl8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8pPr>
            <a:lvl9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highlight>
                  <a:srgbClr val="FFFF00"/>
                </a:highlight>
              </a:rPr>
              <a:t>False prediction SN: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/>
              <a:t>CN3A038640 (2271 B0C NFF)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/>
              <a:t>EA8B956651 (2271 B28 NFF)</a:t>
            </a:r>
          </a:p>
          <a:p>
            <a:pPr marL="0" indent="0">
              <a:spcBef>
                <a:spcPts val="0"/>
              </a:spcBef>
              <a:buNone/>
            </a:pPr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14C6F52-7A78-A3F6-9CD3-186216D55F3F}"/>
              </a:ext>
            </a:extLst>
          </p:cNvPr>
          <p:cNvSpPr txBox="1">
            <a:spLocks/>
          </p:cNvSpPr>
          <p:nvPr/>
        </p:nvSpPr>
        <p:spPr>
          <a:xfrm>
            <a:off x="9379904" y="4851241"/>
            <a:ext cx="2344780" cy="14288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72000" tIns="36000" rIns="72000" bIns="36000" rtlCol="0">
            <a:noAutofit/>
          </a:bodyPr>
          <a:lstStyle>
            <a:lvl1pPr marL="265113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7305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–"/>
              <a:defRPr sz="2000" kern="1000" spc="-30">
                <a:solidFill>
                  <a:schemeClr val="tx1"/>
                </a:solidFill>
                <a:latin typeface="+mn-lt"/>
              </a:defRPr>
            </a:lvl2pPr>
            <a:lvl3pPr marL="803275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3pPr>
            <a:lvl4pPr marL="1076325" indent="-27305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–"/>
              <a:defRPr sz="2000" kern="1000" spc="-30">
                <a:solidFill>
                  <a:schemeClr val="tx1"/>
                </a:solidFill>
                <a:latin typeface="+mn-lt"/>
              </a:defRPr>
            </a:lvl4pPr>
            <a:lvl5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5pPr>
            <a:lvl6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6pPr>
            <a:lvl7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7pPr>
            <a:lvl8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8pPr>
            <a:lvl9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highlight>
                  <a:srgbClr val="FFFF00"/>
                </a:highlight>
              </a:rPr>
              <a:t>False prediction SN:</a:t>
            </a:r>
          </a:p>
          <a:p>
            <a:pPr marL="0" indent="0">
              <a:spcBef>
                <a:spcPts val="0"/>
              </a:spcBef>
              <a:buNone/>
            </a:pPr>
            <a:r>
              <a:rPr lang="pl-PL" sz="1000" dirty="0"/>
              <a:t>DH80249190</a:t>
            </a:r>
            <a:r>
              <a:rPr lang="en-US" sz="1000" dirty="0"/>
              <a:t> (4490 B1B3 DPD)</a:t>
            </a:r>
            <a:endParaRPr lang="pl-PL" sz="1000" dirty="0"/>
          </a:p>
          <a:p>
            <a:pPr marL="0" indent="0">
              <a:spcBef>
                <a:spcPts val="0"/>
              </a:spcBef>
              <a:buNone/>
            </a:pPr>
            <a:r>
              <a:rPr lang="pl-PL" sz="1000" dirty="0"/>
              <a:t>DH80262770</a:t>
            </a:r>
            <a:r>
              <a:rPr lang="en-US" sz="1000" dirty="0"/>
              <a:t> (4490HP B1B3 DPD)</a:t>
            </a:r>
            <a:endParaRPr lang="pl-PL" sz="1000" dirty="0"/>
          </a:p>
          <a:p>
            <a:pPr marL="0" indent="0">
              <a:spcBef>
                <a:spcPts val="0"/>
              </a:spcBef>
              <a:buNone/>
            </a:pPr>
            <a:r>
              <a:rPr lang="pl-PL" sz="1000" dirty="0"/>
              <a:t>E23F115854</a:t>
            </a:r>
            <a:r>
              <a:rPr lang="en-US" sz="1000" dirty="0"/>
              <a:t> (4490 B1B3 DPD)</a:t>
            </a:r>
            <a:endParaRPr lang="pl-PL" sz="1000" dirty="0"/>
          </a:p>
          <a:p>
            <a:pPr marL="0" indent="0">
              <a:spcBef>
                <a:spcPts val="0"/>
              </a:spcBef>
              <a:buNone/>
            </a:pPr>
            <a:r>
              <a:rPr lang="pl-PL" sz="1000" dirty="0"/>
              <a:t>E23F348642</a:t>
            </a:r>
            <a:r>
              <a:rPr lang="en-US" sz="1000" dirty="0"/>
              <a:t> (4490HP B1B3 FU/VSWR)</a:t>
            </a:r>
            <a:endParaRPr lang="pl-PL" sz="1000" dirty="0"/>
          </a:p>
          <a:p>
            <a:pPr marL="0" indent="0">
              <a:spcBef>
                <a:spcPts val="0"/>
              </a:spcBef>
              <a:buNone/>
            </a:pPr>
            <a:r>
              <a:rPr lang="pl-PL" sz="1000" dirty="0"/>
              <a:t>TU8U02CWAU</a:t>
            </a:r>
            <a:r>
              <a:rPr lang="en-US" sz="1000" dirty="0"/>
              <a:t> (4490 B1B3 DPD)</a:t>
            </a:r>
            <a:endParaRPr lang="pl-PL" sz="1000" dirty="0"/>
          </a:p>
          <a:p>
            <a:pPr marL="0" indent="0">
              <a:spcBef>
                <a:spcPts val="0"/>
              </a:spcBef>
              <a:buNone/>
            </a:pPr>
            <a:r>
              <a:rPr lang="pl-PL" sz="1000" dirty="0"/>
              <a:t>TU8U02E183</a:t>
            </a:r>
            <a:r>
              <a:rPr lang="en-US" sz="1000" dirty="0"/>
              <a:t> (4490 B1B3 DPD)</a:t>
            </a:r>
            <a:endParaRPr lang="pl-PL" sz="1000" dirty="0"/>
          </a:p>
          <a:p>
            <a:pPr marL="0" indent="0">
              <a:spcBef>
                <a:spcPts val="0"/>
              </a:spcBef>
              <a:buNone/>
            </a:pPr>
            <a:r>
              <a:rPr lang="pl-PL" sz="1000" dirty="0"/>
              <a:t>TU8U02YVDV</a:t>
            </a:r>
            <a:r>
              <a:rPr lang="en-US" sz="1000" dirty="0"/>
              <a:t> (4490 B1B3 DCDC)</a:t>
            </a:r>
            <a:endParaRPr lang="pl-PL" sz="1000" dirty="0"/>
          </a:p>
          <a:p>
            <a:pPr marL="0" indent="0">
              <a:spcBef>
                <a:spcPts val="0"/>
              </a:spcBef>
              <a:buNone/>
            </a:pPr>
            <a:r>
              <a:rPr lang="pl-PL" sz="1000" dirty="0"/>
              <a:t>TU8U0309J8</a:t>
            </a:r>
            <a:r>
              <a:rPr lang="en-US" sz="1000" dirty="0"/>
              <a:t> (4490 B1B3 DPD)</a:t>
            </a:r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B5C5867-5665-0C11-3531-EAE52557D7A0}"/>
              </a:ext>
            </a:extLst>
          </p:cNvPr>
          <p:cNvSpPr txBox="1">
            <a:spLocks/>
          </p:cNvSpPr>
          <p:nvPr/>
        </p:nvSpPr>
        <p:spPr>
          <a:xfrm>
            <a:off x="9368713" y="2829979"/>
            <a:ext cx="2113134" cy="14288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72000" tIns="36000" rIns="72000" bIns="36000" rtlCol="0">
            <a:noAutofit/>
          </a:bodyPr>
          <a:lstStyle>
            <a:lvl1pPr marL="265113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7305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–"/>
              <a:defRPr sz="2000" kern="1000" spc="-30">
                <a:solidFill>
                  <a:schemeClr val="tx1"/>
                </a:solidFill>
                <a:latin typeface="+mn-lt"/>
              </a:defRPr>
            </a:lvl2pPr>
            <a:lvl3pPr marL="803275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3pPr>
            <a:lvl4pPr marL="1076325" indent="-27305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–"/>
              <a:defRPr sz="2000" kern="1000" spc="-30">
                <a:solidFill>
                  <a:schemeClr val="tx1"/>
                </a:solidFill>
                <a:latin typeface="+mn-lt"/>
              </a:defRPr>
            </a:lvl4pPr>
            <a:lvl5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5pPr>
            <a:lvl6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6pPr>
            <a:lvl7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7pPr>
            <a:lvl8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8pPr>
            <a:lvl9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highlight>
                  <a:srgbClr val="FFFF00"/>
                </a:highlight>
              </a:rPr>
              <a:t>False prediction SN:</a:t>
            </a:r>
          </a:p>
          <a:p>
            <a:pPr marL="0" indent="0">
              <a:spcBef>
                <a:spcPts val="0"/>
              </a:spcBef>
              <a:buNone/>
            </a:pPr>
            <a:r>
              <a:rPr lang="pl-PL" sz="1000" dirty="0"/>
              <a:t>DH80241600</a:t>
            </a:r>
            <a:r>
              <a:rPr lang="en-US" sz="1000" dirty="0"/>
              <a:t> (4490 B1B3 DPD)</a:t>
            </a:r>
            <a:endParaRPr lang="pl-PL" sz="1000" dirty="0"/>
          </a:p>
          <a:p>
            <a:pPr marL="0" indent="0">
              <a:spcBef>
                <a:spcPts val="0"/>
              </a:spcBef>
              <a:buNone/>
            </a:pPr>
            <a:r>
              <a:rPr lang="pl-PL" sz="1000" dirty="0"/>
              <a:t>DH80249190</a:t>
            </a:r>
            <a:r>
              <a:rPr lang="en-US" sz="1000" dirty="0"/>
              <a:t> (4490 B1B3 DPD)</a:t>
            </a:r>
            <a:endParaRPr lang="pl-PL" sz="1000" dirty="0"/>
          </a:p>
          <a:p>
            <a:pPr marL="0" indent="0">
              <a:spcBef>
                <a:spcPts val="0"/>
              </a:spcBef>
              <a:buNone/>
            </a:pPr>
            <a:r>
              <a:rPr lang="pl-PL" sz="1000" dirty="0"/>
              <a:t>DH80262770</a:t>
            </a:r>
            <a:r>
              <a:rPr lang="en-US" sz="1000" dirty="0"/>
              <a:t> (4490HP B1B3 DPD)</a:t>
            </a:r>
            <a:endParaRPr lang="pl-PL" sz="1000" dirty="0"/>
          </a:p>
          <a:p>
            <a:pPr marL="0" indent="0">
              <a:spcBef>
                <a:spcPts val="0"/>
              </a:spcBef>
              <a:buNone/>
            </a:pPr>
            <a:r>
              <a:rPr lang="pl-PL" sz="1000" dirty="0"/>
              <a:t>TU8U02CWAU</a:t>
            </a:r>
            <a:r>
              <a:rPr lang="en-US" sz="1000" dirty="0"/>
              <a:t> (4490 B1B3 DPD)</a:t>
            </a:r>
            <a:endParaRPr lang="pl-PL" sz="1000" dirty="0"/>
          </a:p>
          <a:p>
            <a:pPr marL="0" indent="0">
              <a:spcBef>
                <a:spcPts val="0"/>
              </a:spcBef>
              <a:buNone/>
            </a:pPr>
            <a:r>
              <a:rPr lang="pl-PL" sz="1000" dirty="0"/>
              <a:t>TU8U02E183</a:t>
            </a:r>
            <a:r>
              <a:rPr lang="en-US" sz="1000" dirty="0"/>
              <a:t> (4490 B1B3 DPD)</a:t>
            </a:r>
            <a:endParaRPr lang="pl-PL" sz="1000" dirty="0"/>
          </a:p>
          <a:p>
            <a:pPr marL="0" indent="0">
              <a:spcBef>
                <a:spcPts val="0"/>
              </a:spcBef>
              <a:buNone/>
            </a:pPr>
            <a:r>
              <a:rPr lang="pl-PL" sz="1000" dirty="0"/>
              <a:t>TU8U02FXPD</a:t>
            </a:r>
            <a:r>
              <a:rPr lang="en-US" sz="1000" dirty="0"/>
              <a:t> (4490 B1B3 TRX)</a:t>
            </a:r>
            <a:endParaRPr lang="pl-PL" sz="1000" dirty="0"/>
          </a:p>
          <a:p>
            <a:pPr marL="0" indent="0">
              <a:spcBef>
                <a:spcPts val="0"/>
              </a:spcBef>
              <a:buNone/>
            </a:pPr>
            <a:r>
              <a:rPr lang="pl-PL" sz="1000" dirty="0"/>
              <a:t>TU8U02P786</a:t>
            </a:r>
            <a:r>
              <a:rPr lang="en-US" sz="1000" dirty="0"/>
              <a:t> (4485 B1B3B7 DCDC)</a:t>
            </a:r>
          </a:p>
          <a:p>
            <a:pPr marL="0" indent="0">
              <a:spcBef>
                <a:spcPts val="0"/>
              </a:spcBef>
              <a:buNone/>
            </a:pPr>
            <a:r>
              <a:rPr lang="pl-PL" sz="1000" dirty="0"/>
              <a:t>TU8U0309J8</a:t>
            </a:r>
            <a:r>
              <a:rPr lang="en-US" sz="1000" dirty="0"/>
              <a:t> (4490 B1B3 DPD)</a:t>
            </a:r>
            <a:endParaRPr lang="en-US" sz="1000" dirty="0">
              <a:highlight>
                <a:srgbClr val="FFFF00"/>
              </a:highlight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D2182F0-A54C-6A52-BF2C-AFECF333F121}"/>
              </a:ext>
            </a:extLst>
          </p:cNvPr>
          <p:cNvSpPr txBox="1">
            <a:spLocks/>
          </p:cNvSpPr>
          <p:nvPr/>
        </p:nvSpPr>
        <p:spPr>
          <a:xfrm>
            <a:off x="4168411" y="4339012"/>
            <a:ext cx="1754672" cy="6469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72000" tIns="36000" rIns="72000" bIns="36000" rtlCol="0">
            <a:noAutofit/>
          </a:bodyPr>
          <a:lstStyle>
            <a:lvl1pPr marL="265113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7305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–"/>
              <a:defRPr sz="2000" kern="1000" spc="-30">
                <a:solidFill>
                  <a:schemeClr val="tx1"/>
                </a:solidFill>
                <a:latin typeface="+mn-lt"/>
              </a:defRPr>
            </a:lvl2pPr>
            <a:lvl3pPr marL="803275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3pPr>
            <a:lvl4pPr marL="1076325" indent="-27305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–"/>
              <a:defRPr sz="2000" kern="1000" spc="-30">
                <a:solidFill>
                  <a:schemeClr val="tx1"/>
                </a:solidFill>
                <a:latin typeface="+mn-lt"/>
              </a:defRPr>
            </a:lvl4pPr>
            <a:lvl5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5pPr>
            <a:lvl6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6pPr>
            <a:lvl7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7pPr>
            <a:lvl8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8pPr>
            <a:lvl9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highlight>
                  <a:srgbClr val="FFFF00"/>
                </a:highlight>
              </a:rPr>
              <a:t>False prediction SN: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/>
              <a:t>CN3A038640 (2271 B0C NFF)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/>
              <a:t>EA8B956651 (2271 B28 NFF)</a:t>
            </a:r>
          </a:p>
          <a:p>
            <a:pPr marL="0" indent="0">
              <a:spcBef>
                <a:spcPts val="0"/>
              </a:spcBef>
              <a:buNone/>
            </a:pPr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1CBB6C5-ADE3-50B1-5AC4-5DE2AD7961DE}"/>
              </a:ext>
            </a:extLst>
          </p:cNvPr>
          <p:cNvSpPr txBox="1">
            <a:spLocks/>
          </p:cNvSpPr>
          <p:nvPr/>
        </p:nvSpPr>
        <p:spPr>
          <a:xfrm>
            <a:off x="4202738" y="2385720"/>
            <a:ext cx="1754673" cy="3961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72000" tIns="36000" rIns="72000" bIns="36000" rtlCol="0">
            <a:noAutofit/>
          </a:bodyPr>
          <a:lstStyle>
            <a:lvl1pPr marL="265113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7305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–"/>
              <a:defRPr sz="2000" kern="1000" spc="-30">
                <a:solidFill>
                  <a:schemeClr val="tx1"/>
                </a:solidFill>
                <a:latin typeface="+mn-lt"/>
              </a:defRPr>
            </a:lvl2pPr>
            <a:lvl3pPr marL="803275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3pPr>
            <a:lvl4pPr marL="1076325" indent="-27305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–"/>
              <a:defRPr sz="2000" kern="1000" spc="-30">
                <a:solidFill>
                  <a:schemeClr val="tx1"/>
                </a:solidFill>
                <a:latin typeface="+mn-lt"/>
              </a:defRPr>
            </a:lvl4pPr>
            <a:lvl5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5pPr>
            <a:lvl6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6pPr>
            <a:lvl7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7pPr>
            <a:lvl8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8pPr>
            <a:lvl9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highlight>
                  <a:srgbClr val="FFFF00"/>
                </a:highlight>
              </a:rPr>
              <a:t>False prediction SN: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/>
              <a:t>CN3A038640 (2271 B0C NFF)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01502B4-C3D3-3537-5C89-EC723A35B3CC}"/>
              </a:ext>
            </a:extLst>
          </p:cNvPr>
          <p:cNvSpPr txBox="1">
            <a:spLocks/>
          </p:cNvSpPr>
          <p:nvPr/>
        </p:nvSpPr>
        <p:spPr>
          <a:xfrm>
            <a:off x="9368713" y="857183"/>
            <a:ext cx="2294967" cy="10001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72000" tIns="36000" rIns="72000" bIns="36000" rtlCol="0">
            <a:noAutofit/>
          </a:bodyPr>
          <a:lstStyle>
            <a:lvl1pPr marL="265113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7305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–"/>
              <a:defRPr sz="2000" kern="1000" spc="-30">
                <a:solidFill>
                  <a:schemeClr val="tx1"/>
                </a:solidFill>
                <a:latin typeface="+mn-lt"/>
              </a:defRPr>
            </a:lvl2pPr>
            <a:lvl3pPr marL="803275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3pPr>
            <a:lvl4pPr marL="1076325" indent="-27305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–"/>
              <a:defRPr sz="2000" kern="1000" spc="-30">
                <a:solidFill>
                  <a:schemeClr val="tx1"/>
                </a:solidFill>
                <a:latin typeface="+mn-lt"/>
              </a:defRPr>
            </a:lvl4pPr>
            <a:lvl5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5pPr>
            <a:lvl6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6pPr>
            <a:lvl7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7pPr>
            <a:lvl8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8pPr>
            <a:lvl9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highlight>
                  <a:srgbClr val="FFFF00"/>
                </a:highlight>
              </a:rPr>
              <a:t>False prediction SN:</a:t>
            </a:r>
          </a:p>
          <a:p>
            <a:pPr marL="0" indent="0">
              <a:spcBef>
                <a:spcPts val="0"/>
              </a:spcBef>
              <a:buNone/>
            </a:pPr>
            <a:r>
              <a:rPr lang="pl-PL" sz="1000" dirty="0"/>
              <a:t>E23F348642</a:t>
            </a:r>
            <a:r>
              <a:rPr lang="en-US" sz="1000" dirty="0"/>
              <a:t> (4490HP B1B3 FU/VSWR)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/>
              <a:t>TU8U02PD3Y (4485 B1B3B7 DPD)</a:t>
            </a:r>
          </a:p>
          <a:p>
            <a:pPr marL="0" indent="0">
              <a:spcBef>
                <a:spcPts val="0"/>
              </a:spcBef>
              <a:buNone/>
            </a:pPr>
            <a:r>
              <a:rPr lang="pl-PL" sz="1000" dirty="0"/>
              <a:t>TU8U02FXPD</a:t>
            </a:r>
            <a:r>
              <a:rPr lang="en-US" sz="1000" dirty="0"/>
              <a:t> (4490 B1B3 TRX)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/>
              <a:t>TU8U02YVDV (4490 B1B3 DCDC)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/>
              <a:t>TU8U02YXTT (4490 B1B3 DCDC)</a:t>
            </a:r>
          </a:p>
          <a:p>
            <a:pPr marL="0" indent="0">
              <a:spcBef>
                <a:spcPts val="0"/>
              </a:spcBef>
              <a:buNone/>
            </a:pPr>
            <a:endParaRPr lang="en-US" sz="10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5F0D878-505F-8CCA-7695-75F254B55E0F}"/>
              </a:ext>
            </a:extLst>
          </p:cNvPr>
          <p:cNvSpPr txBox="1">
            <a:spLocks/>
          </p:cNvSpPr>
          <p:nvPr/>
        </p:nvSpPr>
        <p:spPr>
          <a:xfrm>
            <a:off x="2761101" y="4339012"/>
            <a:ext cx="1407310" cy="65348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72000" tIns="36000" rIns="72000" bIns="36000" rtlCol="0">
            <a:noAutofit/>
          </a:bodyPr>
          <a:lstStyle>
            <a:lvl1pPr marL="265113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7305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–"/>
              <a:defRPr sz="2000" kern="1000" spc="-30">
                <a:solidFill>
                  <a:schemeClr val="tx1"/>
                </a:solidFill>
                <a:latin typeface="+mn-lt"/>
              </a:defRPr>
            </a:lvl2pPr>
            <a:lvl3pPr marL="803275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3pPr>
            <a:lvl4pPr marL="1076325" indent="-27305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–"/>
              <a:defRPr sz="2000" kern="1000" spc="-30">
                <a:solidFill>
                  <a:schemeClr val="tx1"/>
                </a:solidFill>
                <a:latin typeface="+mn-lt"/>
              </a:defRPr>
            </a:lvl4pPr>
            <a:lvl5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5pPr>
            <a:lvl6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6pPr>
            <a:lvl7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7pPr>
            <a:lvl8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8pPr>
            <a:lvl9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highlight>
                  <a:srgbClr val="FFFF00"/>
                </a:highlight>
              </a:rPr>
              <a:t>False prediction SN: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/>
              <a:t>CN39854078 (4471HP B3)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/>
              <a:t>CN3A015366 (2271 B0C)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/>
              <a:t>CN3A029786 (2271 B0C)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/>
              <a:t>EA8C417136 (2271 B1)</a:t>
            </a:r>
            <a:endParaRPr lang="en-US" sz="800" dirty="0">
              <a:highlight>
                <a:srgbClr val="FFFF00"/>
              </a:highlight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745B561-6B6F-A283-F5CB-816E94C7FBDE}"/>
              </a:ext>
            </a:extLst>
          </p:cNvPr>
          <p:cNvSpPr txBox="1">
            <a:spLocks/>
          </p:cNvSpPr>
          <p:nvPr/>
        </p:nvSpPr>
        <p:spPr>
          <a:xfrm>
            <a:off x="2873099" y="6466018"/>
            <a:ext cx="1346307" cy="60288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72000" tIns="36000" rIns="72000" bIns="36000" rtlCol="0">
            <a:noAutofit/>
          </a:bodyPr>
          <a:lstStyle>
            <a:lvl1pPr marL="265113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7305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–"/>
              <a:defRPr sz="2000" kern="1000" spc="-30">
                <a:solidFill>
                  <a:schemeClr val="tx1"/>
                </a:solidFill>
                <a:latin typeface="+mn-lt"/>
              </a:defRPr>
            </a:lvl2pPr>
            <a:lvl3pPr marL="803275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3pPr>
            <a:lvl4pPr marL="1076325" indent="-27305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–"/>
              <a:defRPr sz="2000" kern="1000" spc="-30">
                <a:solidFill>
                  <a:schemeClr val="tx1"/>
                </a:solidFill>
                <a:latin typeface="+mn-lt"/>
              </a:defRPr>
            </a:lvl4pPr>
            <a:lvl5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5pPr>
            <a:lvl6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6pPr>
            <a:lvl7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7pPr>
            <a:lvl8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8pPr>
            <a:lvl9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highlight>
                  <a:srgbClr val="FFFF00"/>
                </a:highlight>
              </a:rPr>
              <a:t>False prediction SN: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/>
              <a:t>CN39854078 (4471</a:t>
            </a:r>
            <a:r>
              <a:rPr lang="en-US" altLang="zh-CN" sz="800" dirty="0"/>
              <a:t>HP B3</a:t>
            </a:r>
            <a:r>
              <a:rPr lang="en-US" sz="800" dirty="0"/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/>
              <a:t>CN3A015366 (2271 B0C)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/>
              <a:t>CN3A029786 (2271 B0C)</a:t>
            </a:r>
          </a:p>
          <a:p>
            <a:pPr marL="0" indent="0">
              <a:spcBef>
                <a:spcPts val="0"/>
              </a:spcBef>
              <a:buNone/>
            </a:pPr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953A5A1-3F64-EE16-E3DE-27939A83D872}"/>
              </a:ext>
            </a:extLst>
          </p:cNvPr>
          <p:cNvSpPr/>
          <p:nvPr/>
        </p:nvSpPr>
        <p:spPr bwMode="auto">
          <a:xfrm>
            <a:off x="4059573" y="857183"/>
            <a:ext cx="1897838" cy="5926762"/>
          </a:xfrm>
          <a:prstGeom prst="ellipse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dirty="0" err="1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52C4881-2A34-5E7B-278B-3E734AB16C87}"/>
              </a:ext>
            </a:extLst>
          </p:cNvPr>
          <p:cNvSpPr/>
          <p:nvPr/>
        </p:nvSpPr>
        <p:spPr bwMode="auto">
          <a:xfrm>
            <a:off x="7386728" y="857183"/>
            <a:ext cx="1897838" cy="5926762"/>
          </a:xfrm>
          <a:prstGeom prst="ellipse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dirty="0" err="1">
              <a:solidFill>
                <a:srgbClr val="FF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185895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A1A5C-D3F8-7C97-A91A-27775B35F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53113-7B13-9CE2-59D3-D893BBFF8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600" y="263601"/>
            <a:ext cx="10802845" cy="759950"/>
          </a:xfrm>
        </p:spPr>
        <p:txBody>
          <a:bodyPr/>
          <a:lstStyle/>
          <a:p>
            <a:r>
              <a:rPr lang="en-US" dirty="0"/>
              <a:t>Validation with CGAN and </a:t>
            </a:r>
            <a:r>
              <a:rPr lang="en-US" altLang="zh-CN" dirty="0"/>
              <a:t>Parameter Tuning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04D5136-6C66-B882-DFFF-201DDD989D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2796419"/>
              </p:ext>
            </p:extLst>
          </p:nvPr>
        </p:nvGraphicFramePr>
        <p:xfrm>
          <a:off x="537600" y="985950"/>
          <a:ext cx="8477645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5314">
                  <a:extLst>
                    <a:ext uri="{9D8B030D-6E8A-4147-A177-3AD203B41FA5}">
                      <a16:colId xmlns:a16="http://schemas.microsoft.com/office/drawing/2014/main" val="3444235744"/>
                    </a:ext>
                  </a:extLst>
                </a:gridCol>
                <a:gridCol w="1317997">
                  <a:extLst>
                    <a:ext uri="{9D8B030D-6E8A-4147-A177-3AD203B41FA5}">
                      <a16:colId xmlns:a16="http://schemas.microsoft.com/office/drawing/2014/main" val="321848539"/>
                    </a:ext>
                  </a:extLst>
                </a:gridCol>
                <a:gridCol w="1664839">
                  <a:extLst>
                    <a:ext uri="{9D8B030D-6E8A-4147-A177-3AD203B41FA5}">
                      <a16:colId xmlns:a16="http://schemas.microsoft.com/office/drawing/2014/main" val="275196285"/>
                    </a:ext>
                  </a:extLst>
                </a:gridCol>
                <a:gridCol w="1532408">
                  <a:extLst>
                    <a:ext uri="{9D8B030D-6E8A-4147-A177-3AD203B41FA5}">
                      <a16:colId xmlns:a16="http://schemas.microsoft.com/office/drawing/2014/main" val="855845532"/>
                    </a:ext>
                  </a:extLst>
                </a:gridCol>
                <a:gridCol w="1917087">
                  <a:extLst>
                    <a:ext uri="{9D8B030D-6E8A-4147-A177-3AD203B41FA5}">
                      <a16:colId xmlns:a16="http://schemas.microsoft.com/office/drawing/2014/main" val="2644934163"/>
                    </a:ext>
                  </a:extLst>
                </a:gridCol>
              </a:tblGrid>
              <a:tr h="143180">
                <a:tc gridSpan="5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XGBoost Performance with Default Parameter Config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2918712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Categories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Milano PA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Milano Non-PA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Stockholm PA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Stockholm Non-PA Issue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21332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</a:rPr>
                        <a:t>Samples to be Predicted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852107"/>
                  </a:ext>
                </a:extLst>
              </a:tr>
              <a:tr h="13148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</a:rPr>
                        <a:t>Successfully Predicted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890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</a:rPr>
                        <a:t>Prediction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B050"/>
                          </a:solidFill>
                        </a:rPr>
                        <a:t>87.0%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B050"/>
                          </a:solidFill>
                        </a:rPr>
                        <a:t>84.6%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B050"/>
                          </a:solidFill>
                        </a:rPr>
                        <a:t>91.3%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B050"/>
                          </a:solidFill>
                        </a:rPr>
                        <a:t>86.0%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561162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F6A3BFE-9492-B3CC-52A8-0DBEF41B23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0736934"/>
              </p:ext>
            </p:extLst>
          </p:nvPr>
        </p:nvGraphicFramePr>
        <p:xfrm>
          <a:off x="537599" y="3952025"/>
          <a:ext cx="8477645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5314">
                  <a:extLst>
                    <a:ext uri="{9D8B030D-6E8A-4147-A177-3AD203B41FA5}">
                      <a16:colId xmlns:a16="http://schemas.microsoft.com/office/drawing/2014/main" val="3444235744"/>
                    </a:ext>
                  </a:extLst>
                </a:gridCol>
                <a:gridCol w="1317997">
                  <a:extLst>
                    <a:ext uri="{9D8B030D-6E8A-4147-A177-3AD203B41FA5}">
                      <a16:colId xmlns:a16="http://schemas.microsoft.com/office/drawing/2014/main" val="321848539"/>
                    </a:ext>
                  </a:extLst>
                </a:gridCol>
                <a:gridCol w="1664839">
                  <a:extLst>
                    <a:ext uri="{9D8B030D-6E8A-4147-A177-3AD203B41FA5}">
                      <a16:colId xmlns:a16="http://schemas.microsoft.com/office/drawing/2014/main" val="275196285"/>
                    </a:ext>
                  </a:extLst>
                </a:gridCol>
                <a:gridCol w="1532408">
                  <a:extLst>
                    <a:ext uri="{9D8B030D-6E8A-4147-A177-3AD203B41FA5}">
                      <a16:colId xmlns:a16="http://schemas.microsoft.com/office/drawing/2014/main" val="855845532"/>
                    </a:ext>
                  </a:extLst>
                </a:gridCol>
                <a:gridCol w="1917087">
                  <a:extLst>
                    <a:ext uri="{9D8B030D-6E8A-4147-A177-3AD203B41FA5}">
                      <a16:colId xmlns:a16="http://schemas.microsoft.com/office/drawing/2014/main" val="2644934163"/>
                    </a:ext>
                  </a:extLst>
                </a:gridCol>
              </a:tblGrid>
              <a:tr h="143180">
                <a:tc gridSpan="5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XGBoost Performance with Updated Parameter Config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2918712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Categories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Milano PA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Milano Non-PA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Stockholm PA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Stockholm Non-PA Issue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213326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</a:rPr>
                        <a:t>Samples to be Predicted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852107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</a:rPr>
                        <a:t>Successfully Predicted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890628"/>
                  </a:ext>
                </a:extLst>
              </a:tr>
              <a:tr h="1431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</a:rPr>
                        <a:t>Prediction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B050"/>
                          </a:solidFill>
                        </a:rPr>
                        <a:t>87.0%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B050"/>
                          </a:solidFill>
                        </a:rPr>
                        <a:t>92.3%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B050"/>
                          </a:solidFill>
                        </a:rPr>
                        <a:t>92.4%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B050"/>
                          </a:solidFill>
                        </a:rPr>
                        <a:t>87.7%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5611622"/>
                  </a:ext>
                </a:extLst>
              </a:tr>
            </a:tbl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EC6721B-DAA1-B11D-13E6-FDC091D0F011}"/>
              </a:ext>
            </a:extLst>
          </p:cNvPr>
          <p:cNvSpPr txBox="1">
            <a:spLocks/>
          </p:cNvSpPr>
          <p:nvPr/>
        </p:nvSpPr>
        <p:spPr>
          <a:xfrm>
            <a:off x="7324252" y="5528130"/>
            <a:ext cx="2258906" cy="131332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72000" tIns="36000" rIns="72000" bIns="36000" rtlCol="0">
            <a:noAutofit/>
          </a:bodyPr>
          <a:lstStyle>
            <a:lvl1pPr marL="265113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7305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–"/>
              <a:defRPr sz="2000" kern="1000" spc="-30">
                <a:solidFill>
                  <a:schemeClr val="tx1"/>
                </a:solidFill>
                <a:latin typeface="+mn-lt"/>
              </a:defRPr>
            </a:lvl2pPr>
            <a:lvl3pPr marL="803275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3pPr>
            <a:lvl4pPr marL="1076325" indent="-27305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–"/>
              <a:defRPr sz="2000" kern="1000" spc="-30">
                <a:solidFill>
                  <a:schemeClr val="tx1"/>
                </a:solidFill>
                <a:latin typeface="+mn-lt"/>
              </a:defRPr>
            </a:lvl4pPr>
            <a:lvl5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5pPr>
            <a:lvl6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6pPr>
            <a:lvl7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7pPr>
            <a:lvl8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8pPr>
            <a:lvl9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highlight>
                  <a:srgbClr val="FFFF00"/>
                </a:highlight>
              </a:rPr>
              <a:t>False prediction SN:</a:t>
            </a:r>
          </a:p>
          <a:p>
            <a:pPr marL="0" indent="0">
              <a:spcBef>
                <a:spcPts val="0"/>
              </a:spcBef>
              <a:buNone/>
            </a:pPr>
            <a:r>
              <a:rPr lang="pl-PL" sz="1000" dirty="0"/>
              <a:t>DH80249190</a:t>
            </a:r>
            <a:r>
              <a:rPr lang="en-US" sz="1000" dirty="0"/>
              <a:t> (4490 B1B3 DPD)</a:t>
            </a:r>
            <a:endParaRPr lang="pl-PL" sz="1000" dirty="0"/>
          </a:p>
          <a:p>
            <a:pPr marL="0" indent="0">
              <a:spcBef>
                <a:spcPts val="0"/>
              </a:spcBef>
              <a:buNone/>
            </a:pPr>
            <a:r>
              <a:rPr lang="pl-PL" sz="1000" dirty="0"/>
              <a:t>DH80262770</a:t>
            </a:r>
            <a:r>
              <a:rPr lang="en-US" sz="1000" dirty="0"/>
              <a:t> (4490HP B1B3 DPD)</a:t>
            </a:r>
            <a:endParaRPr lang="pl-PL" sz="1000" dirty="0"/>
          </a:p>
          <a:p>
            <a:pPr marL="0" indent="0">
              <a:spcBef>
                <a:spcPts val="0"/>
              </a:spcBef>
              <a:buNone/>
            </a:pPr>
            <a:r>
              <a:rPr lang="pl-PL" sz="1000" dirty="0"/>
              <a:t>E23F115854</a:t>
            </a:r>
            <a:r>
              <a:rPr lang="en-US" sz="1000" dirty="0"/>
              <a:t> (4490 B1B3 DPD)</a:t>
            </a:r>
            <a:endParaRPr lang="pl-PL" sz="1000" dirty="0"/>
          </a:p>
          <a:p>
            <a:pPr marL="0" indent="0">
              <a:spcBef>
                <a:spcPts val="0"/>
              </a:spcBef>
              <a:buNone/>
            </a:pPr>
            <a:r>
              <a:rPr lang="pl-PL" sz="1000" dirty="0"/>
              <a:t>E23F348642</a:t>
            </a:r>
            <a:r>
              <a:rPr lang="en-US" sz="1000" dirty="0"/>
              <a:t> (4490HP B1B3 FU/VSWR)</a:t>
            </a:r>
            <a:endParaRPr lang="pl-PL" sz="1000" dirty="0"/>
          </a:p>
          <a:p>
            <a:pPr marL="0" indent="0">
              <a:spcBef>
                <a:spcPts val="0"/>
              </a:spcBef>
              <a:buNone/>
            </a:pPr>
            <a:r>
              <a:rPr lang="pl-PL" sz="1000" dirty="0"/>
              <a:t>TU8U02CWAU</a:t>
            </a:r>
            <a:r>
              <a:rPr lang="en-US" sz="1000" dirty="0"/>
              <a:t> (4490 B1B3 DPD)</a:t>
            </a:r>
            <a:endParaRPr lang="pl-PL" sz="1000" dirty="0"/>
          </a:p>
          <a:p>
            <a:pPr marL="0" indent="0">
              <a:spcBef>
                <a:spcPts val="0"/>
              </a:spcBef>
              <a:buNone/>
            </a:pPr>
            <a:r>
              <a:rPr lang="pl-PL" sz="1000" dirty="0"/>
              <a:t>TU8U02E183</a:t>
            </a:r>
            <a:r>
              <a:rPr lang="en-US" sz="1000" dirty="0"/>
              <a:t> (4490 B1B3 DPD)</a:t>
            </a:r>
            <a:endParaRPr lang="pl-PL" sz="10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/>
              <a:t>TU8U02P786 (4485 B1B3B7 DCDC)</a:t>
            </a:r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AF7DFB6-9C77-820C-0FC2-F1FFCF8BD6AB}"/>
              </a:ext>
            </a:extLst>
          </p:cNvPr>
          <p:cNvSpPr txBox="1">
            <a:spLocks/>
          </p:cNvSpPr>
          <p:nvPr/>
        </p:nvSpPr>
        <p:spPr>
          <a:xfrm>
            <a:off x="3823294" y="5520389"/>
            <a:ext cx="1738954" cy="60288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72000" tIns="36000" rIns="72000" bIns="36000" rtlCol="0">
            <a:noAutofit/>
          </a:bodyPr>
          <a:lstStyle>
            <a:lvl1pPr marL="265113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7305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–"/>
              <a:defRPr sz="2000" kern="1000" spc="-30">
                <a:solidFill>
                  <a:schemeClr val="tx1"/>
                </a:solidFill>
                <a:latin typeface="+mn-lt"/>
              </a:defRPr>
            </a:lvl2pPr>
            <a:lvl3pPr marL="803275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3pPr>
            <a:lvl4pPr marL="1076325" indent="-27305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–"/>
              <a:defRPr sz="2000" kern="1000" spc="-30">
                <a:solidFill>
                  <a:schemeClr val="tx1"/>
                </a:solidFill>
                <a:latin typeface="+mn-lt"/>
              </a:defRPr>
            </a:lvl4pPr>
            <a:lvl5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5pPr>
            <a:lvl6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6pPr>
            <a:lvl7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7pPr>
            <a:lvl8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8pPr>
            <a:lvl9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highlight>
                  <a:srgbClr val="FFFF00"/>
                </a:highlight>
              </a:rPr>
              <a:t>False prediction SN: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/>
              <a:t>EA8B956651 (2271 B28 NFF)</a:t>
            </a:r>
          </a:p>
          <a:p>
            <a:pPr marL="0" indent="0">
              <a:spcBef>
                <a:spcPts val="0"/>
              </a:spcBef>
              <a:buNone/>
            </a:pPr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4A31A8-3F6C-62F3-5B66-793021F277FD}"/>
              </a:ext>
            </a:extLst>
          </p:cNvPr>
          <p:cNvSpPr txBox="1"/>
          <p:nvPr/>
        </p:nvSpPr>
        <p:spPr>
          <a:xfrm>
            <a:off x="9721911" y="1023551"/>
            <a:ext cx="2422956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Default Parameters Setting</a:t>
            </a:r>
          </a:p>
          <a:p>
            <a:r>
              <a:rPr lang="en-US" sz="1200" dirty="0" err="1"/>
              <a:t>learning_rate</a:t>
            </a:r>
            <a:r>
              <a:rPr lang="en-US" sz="1200" dirty="0"/>
              <a:t>: 0.1</a:t>
            </a:r>
          </a:p>
          <a:p>
            <a:r>
              <a:rPr lang="en-US" sz="1200" dirty="0" err="1"/>
              <a:t>n_estimators</a:t>
            </a:r>
            <a:r>
              <a:rPr lang="en-US" sz="1200" dirty="0"/>
              <a:t>: 100</a:t>
            </a:r>
          </a:p>
          <a:p>
            <a:r>
              <a:rPr lang="en-US" sz="1200" dirty="0" err="1"/>
              <a:t>max_depth</a:t>
            </a:r>
            <a:r>
              <a:rPr lang="en-US" sz="1200" dirty="0"/>
              <a:t>: 6</a:t>
            </a:r>
          </a:p>
          <a:p>
            <a:r>
              <a:rPr lang="en-US" sz="1200" dirty="0" err="1"/>
              <a:t>min_child_weight</a:t>
            </a:r>
            <a:r>
              <a:rPr lang="en-US" sz="1200" dirty="0"/>
              <a:t>: 1</a:t>
            </a:r>
          </a:p>
          <a:p>
            <a:r>
              <a:rPr lang="en-US" sz="1200" dirty="0" err="1"/>
              <a:t>reg_alpha</a:t>
            </a:r>
            <a:r>
              <a:rPr lang="en-US" sz="1200" dirty="0"/>
              <a:t>: 0</a:t>
            </a:r>
          </a:p>
          <a:p>
            <a:r>
              <a:rPr lang="en-US" sz="1200" dirty="0" err="1"/>
              <a:t>reg_lambda</a:t>
            </a:r>
            <a:r>
              <a:rPr lang="en-US" sz="1200" dirty="0"/>
              <a:t>: 1</a:t>
            </a:r>
          </a:p>
          <a:p>
            <a:r>
              <a:rPr lang="en-US" sz="1200" dirty="0"/>
              <a:t>gamma: 0</a:t>
            </a:r>
          </a:p>
          <a:p>
            <a:r>
              <a:rPr lang="en-US" sz="1200" dirty="0"/>
              <a:t>subsample: 0.8</a:t>
            </a:r>
          </a:p>
          <a:p>
            <a:r>
              <a:rPr lang="en-US" sz="1200" dirty="0" err="1"/>
              <a:t>colsample_bytree</a:t>
            </a:r>
            <a:r>
              <a:rPr lang="en-US" sz="1200" dirty="0"/>
              <a:t>: 0.8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0D11156-BB4E-EE9F-C951-D7D52F5987DE}"/>
              </a:ext>
            </a:extLst>
          </p:cNvPr>
          <p:cNvSpPr txBox="1">
            <a:spLocks/>
          </p:cNvSpPr>
          <p:nvPr/>
        </p:nvSpPr>
        <p:spPr>
          <a:xfrm>
            <a:off x="3811504" y="2566338"/>
            <a:ext cx="1738954" cy="5867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72000" tIns="36000" rIns="72000" bIns="36000" rtlCol="0">
            <a:noAutofit/>
          </a:bodyPr>
          <a:lstStyle>
            <a:lvl1pPr marL="265113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7305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–"/>
              <a:defRPr sz="2000" kern="1000" spc="-30">
                <a:solidFill>
                  <a:schemeClr val="tx1"/>
                </a:solidFill>
                <a:latin typeface="+mn-lt"/>
              </a:defRPr>
            </a:lvl2pPr>
            <a:lvl3pPr marL="803275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3pPr>
            <a:lvl4pPr marL="1076325" indent="-27305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–"/>
              <a:defRPr sz="2000" kern="1000" spc="-30">
                <a:solidFill>
                  <a:schemeClr val="tx1"/>
                </a:solidFill>
                <a:latin typeface="+mn-lt"/>
              </a:defRPr>
            </a:lvl4pPr>
            <a:lvl5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5pPr>
            <a:lvl6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6pPr>
            <a:lvl7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7pPr>
            <a:lvl8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8pPr>
            <a:lvl9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highlight>
                  <a:srgbClr val="FFFF00"/>
                </a:highlight>
              </a:rPr>
              <a:t>False prediction SN: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/>
              <a:t>CN3A038640 (2271 B0C NFF)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/>
              <a:t>EA8B956651 (2271 B28 NFF)</a:t>
            </a:r>
          </a:p>
          <a:p>
            <a:pPr marL="0" indent="0">
              <a:spcBef>
                <a:spcPts val="0"/>
              </a:spcBef>
              <a:buNone/>
            </a:pPr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6435BBE-D8B5-7ED4-0AD4-86A749581523}"/>
              </a:ext>
            </a:extLst>
          </p:cNvPr>
          <p:cNvSpPr txBox="1">
            <a:spLocks/>
          </p:cNvSpPr>
          <p:nvPr/>
        </p:nvSpPr>
        <p:spPr>
          <a:xfrm>
            <a:off x="7306739" y="2575464"/>
            <a:ext cx="2293933" cy="14288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72000" tIns="36000" rIns="72000" bIns="36000" rtlCol="0">
            <a:noAutofit/>
          </a:bodyPr>
          <a:lstStyle>
            <a:lvl1pPr marL="265113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7305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–"/>
              <a:defRPr sz="2000" kern="1000" spc="-30">
                <a:solidFill>
                  <a:schemeClr val="tx1"/>
                </a:solidFill>
                <a:latin typeface="+mn-lt"/>
              </a:defRPr>
            </a:lvl2pPr>
            <a:lvl3pPr marL="803275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3pPr>
            <a:lvl4pPr marL="1076325" indent="-27305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–"/>
              <a:defRPr sz="2000" kern="1000" spc="-30">
                <a:solidFill>
                  <a:schemeClr val="tx1"/>
                </a:solidFill>
                <a:latin typeface="+mn-lt"/>
              </a:defRPr>
            </a:lvl4pPr>
            <a:lvl5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5pPr>
            <a:lvl6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6pPr>
            <a:lvl7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7pPr>
            <a:lvl8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8pPr>
            <a:lvl9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highlight>
                  <a:srgbClr val="FFFF00"/>
                </a:highlight>
              </a:rPr>
              <a:t>False prediction SN:</a:t>
            </a:r>
          </a:p>
          <a:p>
            <a:pPr marL="0" indent="0">
              <a:spcBef>
                <a:spcPts val="0"/>
              </a:spcBef>
              <a:buNone/>
            </a:pPr>
            <a:r>
              <a:rPr lang="pl-PL" sz="1000" dirty="0"/>
              <a:t>DH80249190</a:t>
            </a:r>
            <a:r>
              <a:rPr lang="en-US" sz="1000" dirty="0"/>
              <a:t> (4490 B1B3 DPD)</a:t>
            </a:r>
            <a:endParaRPr lang="pl-PL" sz="1000" dirty="0"/>
          </a:p>
          <a:p>
            <a:pPr marL="0" indent="0">
              <a:spcBef>
                <a:spcPts val="0"/>
              </a:spcBef>
              <a:buNone/>
            </a:pPr>
            <a:r>
              <a:rPr lang="pl-PL" sz="1000" dirty="0"/>
              <a:t>DH80262770</a:t>
            </a:r>
            <a:r>
              <a:rPr lang="en-US" sz="1000" dirty="0"/>
              <a:t> (4490HP B1B3 DPD)</a:t>
            </a:r>
            <a:endParaRPr lang="pl-PL" sz="1000" dirty="0"/>
          </a:p>
          <a:p>
            <a:pPr marL="0" indent="0">
              <a:spcBef>
                <a:spcPts val="0"/>
              </a:spcBef>
              <a:buNone/>
            </a:pPr>
            <a:r>
              <a:rPr lang="pl-PL" sz="1000" dirty="0"/>
              <a:t>E23F115854</a:t>
            </a:r>
            <a:r>
              <a:rPr lang="en-US" sz="1000" dirty="0"/>
              <a:t> (4490 B1B3 DPD)</a:t>
            </a:r>
            <a:endParaRPr lang="pl-PL" sz="1000" dirty="0"/>
          </a:p>
          <a:p>
            <a:pPr marL="0" indent="0">
              <a:spcBef>
                <a:spcPts val="0"/>
              </a:spcBef>
              <a:buNone/>
            </a:pPr>
            <a:r>
              <a:rPr lang="pl-PL" sz="1000" dirty="0"/>
              <a:t>E23F348642</a:t>
            </a:r>
            <a:r>
              <a:rPr lang="en-US" sz="1000" dirty="0"/>
              <a:t> (4490HP B1B3 FU/VSWR)</a:t>
            </a:r>
            <a:endParaRPr lang="pl-PL" sz="1000" dirty="0"/>
          </a:p>
          <a:p>
            <a:pPr marL="0" indent="0">
              <a:spcBef>
                <a:spcPts val="0"/>
              </a:spcBef>
              <a:buNone/>
            </a:pPr>
            <a:r>
              <a:rPr lang="pl-PL" sz="1000" dirty="0"/>
              <a:t>TU8U02CWAU</a:t>
            </a:r>
            <a:r>
              <a:rPr lang="en-US" sz="1000" dirty="0"/>
              <a:t> (4490 B1B3 DPD)</a:t>
            </a:r>
            <a:endParaRPr lang="pl-PL" sz="1000" dirty="0"/>
          </a:p>
          <a:p>
            <a:pPr marL="0" indent="0">
              <a:spcBef>
                <a:spcPts val="0"/>
              </a:spcBef>
              <a:buNone/>
            </a:pPr>
            <a:r>
              <a:rPr lang="pl-PL" sz="1000" dirty="0"/>
              <a:t>TU8U02E183</a:t>
            </a:r>
            <a:r>
              <a:rPr lang="en-US" sz="1000" dirty="0"/>
              <a:t> (4490 B1B3 DPD)</a:t>
            </a:r>
            <a:endParaRPr lang="pl-PL" sz="1000" dirty="0"/>
          </a:p>
          <a:p>
            <a:pPr marL="0" indent="0">
              <a:spcBef>
                <a:spcPts val="0"/>
              </a:spcBef>
              <a:buNone/>
            </a:pPr>
            <a:r>
              <a:rPr lang="pl-PL" sz="1000" dirty="0"/>
              <a:t>TU8U02YVDV</a:t>
            </a:r>
            <a:r>
              <a:rPr lang="en-US" sz="1000" dirty="0"/>
              <a:t> (4490 B1B3 DCDC)</a:t>
            </a:r>
            <a:endParaRPr lang="pl-PL" sz="1000" dirty="0"/>
          </a:p>
          <a:p>
            <a:pPr marL="0" indent="0">
              <a:spcBef>
                <a:spcPts val="0"/>
              </a:spcBef>
              <a:buNone/>
            </a:pPr>
            <a:r>
              <a:rPr lang="pl-PL" sz="1000" dirty="0"/>
              <a:t>TU8U0309J8</a:t>
            </a:r>
            <a:r>
              <a:rPr lang="en-US" sz="1000" dirty="0"/>
              <a:t> (4490 B1B3 DPD)</a:t>
            </a:r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9FE760-4E6C-3C1D-1D83-E0BBF328624F}"/>
              </a:ext>
            </a:extLst>
          </p:cNvPr>
          <p:cNvSpPr txBox="1"/>
          <p:nvPr/>
        </p:nvSpPr>
        <p:spPr>
          <a:xfrm>
            <a:off x="9698344" y="3929598"/>
            <a:ext cx="2470090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Updated Parameters Setting</a:t>
            </a:r>
          </a:p>
          <a:p>
            <a:r>
              <a:rPr lang="en-US" sz="1200" dirty="0" err="1"/>
              <a:t>learning_rate</a:t>
            </a:r>
            <a:r>
              <a:rPr lang="en-US" sz="1200" dirty="0"/>
              <a:t>: 0.2</a:t>
            </a:r>
          </a:p>
          <a:p>
            <a:r>
              <a:rPr lang="en-US" sz="1200" dirty="0" err="1"/>
              <a:t>n_estimators</a:t>
            </a:r>
            <a:r>
              <a:rPr lang="en-US" sz="1200" dirty="0"/>
              <a:t>: 10</a:t>
            </a:r>
          </a:p>
          <a:p>
            <a:r>
              <a:rPr lang="en-US" sz="1200" dirty="0" err="1"/>
              <a:t>max_depth</a:t>
            </a:r>
            <a:r>
              <a:rPr lang="en-US" sz="1200" dirty="0"/>
              <a:t>: 7</a:t>
            </a:r>
          </a:p>
          <a:p>
            <a:r>
              <a:rPr lang="en-US" sz="1200" dirty="0" err="1"/>
              <a:t>min_child_weight</a:t>
            </a:r>
            <a:r>
              <a:rPr lang="en-US" sz="1200" dirty="0"/>
              <a:t>: 7</a:t>
            </a:r>
          </a:p>
          <a:p>
            <a:r>
              <a:rPr lang="en-US" sz="1200" dirty="0" err="1"/>
              <a:t>reg_alpha</a:t>
            </a:r>
            <a:r>
              <a:rPr lang="en-US" sz="1200" dirty="0"/>
              <a:t>: 0</a:t>
            </a:r>
          </a:p>
          <a:p>
            <a:r>
              <a:rPr lang="en-US" sz="1200" dirty="0" err="1"/>
              <a:t>reg_lambda</a:t>
            </a:r>
            <a:r>
              <a:rPr lang="en-US" sz="1200" dirty="0"/>
              <a:t>: 0</a:t>
            </a:r>
          </a:p>
          <a:p>
            <a:r>
              <a:rPr lang="en-US" sz="1200" dirty="0"/>
              <a:t>gamma: 0</a:t>
            </a:r>
          </a:p>
          <a:p>
            <a:r>
              <a:rPr lang="en-US" sz="1200" dirty="0"/>
              <a:t>subsample: 1.0</a:t>
            </a:r>
          </a:p>
          <a:p>
            <a:r>
              <a:rPr lang="en-US" sz="1200" dirty="0" err="1"/>
              <a:t>colsample_bytree</a:t>
            </a:r>
            <a:r>
              <a:rPr lang="en-US" sz="1200" dirty="0"/>
              <a:t>: 0.5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AA5A8084-3ACE-9B1D-FD2A-EC44066FEDE5}"/>
              </a:ext>
            </a:extLst>
          </p:cNvPr>
          <p:cNvSpPr txBox="1">
            <a:spLocks/>
          </p:cNvSpPr>
          <p:nvPr/>
        </p:nvSpPr>
        <p:spPr>
          <a:xfrm>
            <a:off x="2457337" y="2570910"/>
            <a:ext cx="1346307" cy="5867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72000" tIns="36000" rIns="72000" bIns="36000" rtlCol="0">
            <a:noAutofit/>
          </a:bodyPr>
          <a:lstStyle>
            <a:lvl1pPr marL="265113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7305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–"/>
              <a:defRPr sz="2000" kern="1000" spc="-30">
                <a:solidFill>
                  <a:schemeClr val="tx1"/>
                </a:solidFill>
                <a:latin typeface="+mn-lt"/>
              </a:defRPr>
            </a:lvl2pPr>
            <a:lvl3pPr marL="803275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3pPr>
            <a:lvl4pPr marL="1076325" indent="-27305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–"/>
              <a:defRPr sz="2000" kern="1000" spc="-30">
                <a:solidFill>
                  <a:schemeClr val="tx1"/>
                </a:solidFill>
                <a:latin typeface="+mn-lt"/>
              </a:defRPr>
            </a:lvl4pPr>
            <a:lvl5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5pPr>
            <a:lvl6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6pPr>
            <a:lvl7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7pPr>
            <a:lvl8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8pPr>
            <a:lvl9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highlight>
                  <a:srgbClr val="FFFF00"/>
                </a:highlight>
              </a:rPr>
              <a:t>False prediction SN: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/>
              <a:t>CN39854078 (4471</a:t>
            </a:r>
            <a:r>
              <a:rPr lang="en-US" altLang="zh-CN" sz="800" dirty="0"/>
              <a:t>HP B3</a:t>
            </a:r>
            <a:r>
              <a:rPr lang="en-US" sz="800" dirty="0"/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/>
              <a:t>CN3A015366 (2271 B0C)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/>
              <a:t>CN3A029786 (2271 B0C)</a:t>
            </a:r>
          </a:p>
          <a:p>
            <a:pPr marL="0" indent="0">
              <a:spcBef>
                <a:spcPts val="0"/>
              </a:spcBef>
              <a:buNone/>
            </a:pPr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00E265A9-9294-2B12-D345-348F7A1F428F}"/>
              </a:ext>
            </a:extLst>
          </p:cNvPr>
          <p:cNvSpPr txBox="1">
            <a:spLocks/>
          </p:cNvSpPr>
          <p:nvPr/>
        </p:nvSpPr>
        <p:spPr>
          <a:xfrm>
            <a:off x="5542598" y="2567723"/>
            <a:ext cx="1754674" cy="14288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72000" tIns="36000" rIns="72000" bIns="36000" rtlCol="0">
            <a:noAutofit/>
          </a:bodyPr>
          <a:lstStyle>
            <a:lvl1pPr marL="265113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7305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–"/>
              <a:defRPr sz="2000" kern="1000" spc="-30">
                <a:solidFill>
                  <a:schemeClr val="tx1"/>
                </a:solidFill>
                <a:latin typeface="+mn-lt"/>
              </a:defRPr>
            </a:lvl2pPr>
            <a:lvl3pPr marL="803275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3pPr>
            <a:lvl4pPr marL="1076325" indent="-27305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–"/>
              <a:defRPr sz="2000" kern="1000" spc="-30">
                <a:solidFill>
                  <a:schemeClr val="tx1"/>
                </a:solidFill>
                <a:latin typeface="+mn-lt"/>
              </a:defRPr>
            </a:lvl4pPr>
            <a:lvl5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5pPr>
            <a:lvl6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6pPr>
            <a:lvl7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7pPr>
            <a:lvl8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8pPr>
            <a:lvl9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highlight>
                  <a:srgbClr val="FFFF00"/>
                </a:highlight>
              </a:rPr>
              <a:t>False prediction SN: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1000" dirty="0"/>
              <a:t>E23E736355 (4490 B1B3)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1000" dirty="0"/>
              <a:t>E23F086295 (4490 B1B3)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1000" dirty="0"/>
              <a:t>E23F110761 (4490 B1B3)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1000" dirty="0"/>
              <a:t>E23F273614 (4490HP B1B3)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1000" dirty="0"/>
              <a:t>E23F454041 (4490HP B1B3)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1000" dirty="0"/>
              <a:t>TU8U02G5N4 (4490 B1B3)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1000" dirty="0"/>
              <a:t>TU8U02HUK2 (4490 B1B3)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1000" dirty="0"/>
              <a:t>TU8U02MCT0 (4485 B1B3B7)</a:t>
            </a:r>
            <a:endParaRPr lang="en-US" sz="1100" dirty="0">
              <a:highlight>
                <a:srgbClr val="FFFF00"/>
              </a:highlight>
            </a:endParaRP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E016E1BD-DD7C-2EC9-B0A7-98DB7A2FA682}"/>
              </a:ext>
            </a:extLst>
          </p:cNvPr>
          <p:cNvSpPr txBox="1">
            <a:spLocks/>
          </p:cNvSpPr>
          <p:nvPr/>
        </p:nvSpPr>
        <p:spPr>
          <a:xfrm>
            <a:off x="2476987" y="5528130"/>
            <a:ext cx="1346307" cy="60288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72000" tIns="36000" rIns="72000" bIns="36000" rtlCol="0">
            <a:noAutofit/>
          </a:bodyPr>
          <a:lstStyle>
            <a:lvl1pPr marL="265113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7305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–"/>
              <a:defRPr sz="2000" kern="1000" spc="-30">
                <a:solidFill>
                  <a:schemeClr val="tx1"/>
                </a:solidFill>
                <a:latin typeface="+mn-lt"/>
              </a:defRPr>
            </a:lvl2pPr>
            <a:lvl3pPr marL="803275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3pPr>
            <a:lvl4pPr marL="1076325" indent="-27305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–"/>
              <a:defRPr sz="2000" kern="1000" spc="-30">
                <a:solidFill>
                  <a:schemeClr val="tx1"/>
                </a:solidFill>
                <a:latin typeface="+mn-lt"/>
              </a:defRPr>
            </a:lvl4pPr>
            <a:lvl5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5pPr>
            <a:lvl6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6pPr>
            <a:lvl7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7pPr>
            <a:lvl8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8pPr>
            <a:lvl9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highlight>
                  <a:srgbClr val="FFFF00"/>
                </a:highlight>
              </a:rPr>
              <a:t>False prediction SN: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/>
              <a:t>CN39854078 (4471</a:t>
            </a:r>
            <a:r>
              <a:rPr lang="en-US" altLang="zh-CN" sz="800" dirty="0"/>
              <a:t>HP B3</a:t>
            </a:r>
            <a:r>
              <a:rPr lang="en-US" sz="800" dirty="0"/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/>
              <a:t>CN3A029786 (2271 B0C)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/>
              <a:t>EA8C417136 (2271 B1)</a:t>
            </a:r>
            <a:endParaRPr lang="en-US" sz="800" dirty="0">
              <a:highlight>
                <a:srgbClr val="FFFF00"/>
              </a:highlight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2A2E5A6D-458A-6AC7-BBB9-F38BA79A3915}"/>
              </a:ext>
            </a:extLst>
          </p:cNvPr>
          <p:cNvSpPr txBox="1">
            <a:spLocks/>
          </p:cNvSpPr>
          <p:nvPr/>
        </p:nvSpPr>
        <p:spPr>
          <a:xfrm>
            <a:off x="5574038" y="5520389"/>
            <a:ext cx="1754674" cy="131332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72000" tIns="36000" rIns="72000" bIns="36000" rtlCol="0">
            <a:noAutofit/>
          </a:bodyPr>
          <a:lstStyle>
            <a:lvl1pPr marL="265113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7305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–"/>
              <a:defRPr sz="2000" kern="1000" spc="-30">
                <a:solidFill>
                  <a:schemeClr val="tx1"/>
                </a:solidFill>
                <a:latin typeface="+mn-lt"/>
              </a:defRPr>
            </a:lvl2pPr>
            <a:lvl3pPr marL="803275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3pPr>
            <a:lvl4pPr marL="1076325" indent="-273050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–"/>
              <a:defRPr sz="2000" kern="1000" spc="-30">
                <a:solidFill>
                  <a:schemeClr val="tx1"/>
                </a:solidFill>
                <a:latin typeface="+mn-lt"/>
              </a:defRPr>
            </a:lvl4pPr>
            <a:lvl5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 kern="1000" spc="-30">
                <a:solidFill>
                  <a:schemeClr val="tx1"/>
                </a:solidFill>
                <a:latin typeface="+mn-lt"/>
              </a:defRPr>
            </a:lvl5pPr>
            <a:lvl6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6pPr>
            <a:lvl7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7pPr>
            <a:lvl8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8pPr>
            <a:lvl9pPr marL="1341438" indent="-265113" algn="l" rtl="0" eaLnBrk="1" fontAlgn="base" hangingPunct="1">
              <a:spcBef>
                <a:spcPts val="800"/>
              </a:spcBef>
              <a:spcAft>
                <a:spcPct val="0"/>
              </a:spcAft>
              <a:buClrTx/>
              <a:buFont typeface="Ericsson Hilda" panose="00000500000000000000" pitchFamily="2" charset="0"/>
              <a:buChar char="●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highlight>
                  <a:srgbClr val="FFFF00"/>
                </a:highlight>
              </a:rPr>
              <a:t>False prediction SN: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1000" dirty="0"/>
              <a:t>E23E736355 (4490 B1B3)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1000" dirty="0"/>
              <a:t>E23F086295 (4490 B1B3)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1000" dirty="0"/>
              <a:t>E23F110761 (4490 B1B3)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1000" dirty="0"/>
              <a:t>E23F328806 (4490HP B1B3)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1000" dirty="0"/>
              <a:t>TU8U02G5N4 (4490 B1B3)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1000" dirty="0"/>
              <a:t>TU8U02HUK2 (4490 B1B3)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1000" dirty="0"/>
              <a:t>TU8U02MCT0 (4485 B1B3B7)</a:t>
            </a:r>
            <a:endParaRPr lang="en-US" sz="1100" dirty="0">
              <a:highlight>
                <a:srgbClr val="FFFF00"/>
              </a:highlight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85626B0-E49B-92E5-2D43-61BFF57DC114}"/>
              </a:ext>
            </a:extLst>
          </p:cNvPr>
          <p:cNvSpPr/>
          <p:nvPr/>
        </p:nvSpPr>
        <p:spPr bwMode="auto">
          <a:xfrm>
            <a:off x="122548" y="4012013"/>
            <a:ext cx="9612114" cy="2775286"/>
          </a:xfrm>
          <a:prstGeom prst="ellipse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dirty="0" err="1">
              <a:solidFill>
                <a:srgbClr val="FF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218470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3931E-8573-BC28-7966-5D66256E7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72" y="167162"/>
            <a:ext cx="10515600" cy="631735"/>
          </a:xfrm>
        </p:spPr>
        <p:txBody>
          <a:bodyPr>
            <a:normAutofit fontScale="90000"/>
          </a:bodyPr>
          <a:lstStyle/>
          <a:p>
            <a:r>
              <a:rPr lang="en-US" dirty="0"/>
              <a:t>DeepLog Web Tool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6F5CCE-97CE-2FBF-4636-5A4AAB79C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124" y="798897"/>
            <a:ext cx="9102019" cy="600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213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SlideFormConfiguration><![CDATA[{"formFields":[],"formDataEntries":[]}]]></TemplafySlideFormConfiguration>
</file>

<file path=customXml/item3.xml><?xml version="1.0" encoding="utf-8"?>
<TemplafySlideTemplateConfiguration><![CDATA[{"documentContentValidatorConfiguration":{"enableDocumentContentValidator":false,"documentContentValidatorVersion":0},"elementsMetadata":[],"slideId":"638744334193268620","enableDocumentContentUpdater":true,"version":"1.9"}]]></TemplafySlideTemplateConfiguration>
</file>

<file path=customXml/item4.xml><?xml version="1.0" encoding="utf-8"?>
<TemplafySlideFormConfiguration><![CDATA[{"formFields":[],"formDataEntries":[]}]]></TemplafySlideFormConfiguration>
</file>

<file path=customXml/item5.xml><?xml version="1.0" encoding="utf-8"?>
<TemplafySlideTemplateConfiguration><![CDATA[{"documentContentValidatorConfiguration":{"enableDocumentContentValidator":false,"documentContentValidatorVersion":0},"elementsMetadata":[],"slideId":"638744334193268620","enableDocumentContentUpdater":true,"version":"1.9"}]]></TemplafySlideTemplateConfiguration>
</file>

<file path=customXml/item6.xml><?xml version="1.0" encoding="utf-8"?>
<TemplafySlideTemplateConfiguration><![CDATA[{"documentContentValidatorConfiguration":{"enableDocumentContentValidator":false,"documentContentValidatorVersion":0},"elementsMetadata":[],"slideId":"638744334193268620","enableDocumentContentUpdater":true,"version":"1.9"}]]></TemplafySlideTemplateConfiguration>
</file>

<file path=customXml/itemProps1.xml><?xml version="1.0" encoding="utf-8"?>
<ds:datastoreItem xmlns:ds="http://schemas.openxmlformats.org/officeDocument/2006/customXml" ds:itemID="{12FC5EB5-AB7D-4DBC-B822-78F0CB953DE0}">
  <ds:schemaRefs/>
</ds:datastoreItem>
</file>

<file path=customXml/itemProps2.xml><?xml version="1.0" encoding="utf-8"?>
<ds:datastoreItem xmlns:ds="http://schemas.openxmlformats.org/officeDocument/2006/customXml" ds:itemID="{62D3F892-9249-4106-A468-511AFE11180D}">
  <ds:schemaRefs/>
</ds:datastoreItem>
</file>

<file path=customXml/itemProps3.xml><?xml version="1.0" encoding="utf-8"?>
<ds:datastoreItem xmlns:ds="http://schemas.openxmlformats.org/officeDocument/2006/customXml" ds:itemID="{4D0732B0-E9DC-4774-B316-F723FA27DC36}">
  <ds:schemaRefs/>
</ds:datastoreItem>
</file>

<file path=customXml/itemProps4.xml><?xml version="1.0" encoding="utf-8"?>
<ds:datastoreItem xmlns:ds="http://schemas.openxmlformats.org/officeDocument/2006/customXml" ds:itemID="{4698CE9A-2E2B-46FE-A717-1D27A3951DD7}">
  <ds:schemaRefs/>
</ds:datastoreItem>
</file>

<file path=customXml/itemProps5.xml><?xml version="1.0" encoding="utf-8"?>
<ds:datastoreItem xmlns:ds="http://schemas.openxmlformats.org/officeDocument/2006/customXml" ds:itemID="{D43F7E55-E11E-4B23-A1E0-52B0F87D61EF}">
  <ds:schemaRefs/>
</ds:datastoreItem>
</file>

<file path=customXml/itemProps6.xml><?xml version="1.0" encoding="utf-8"?>
<ds:datastoreItem xmlns:ds="http://schemas.openxmlformats.org/officeDocument/2006/customXml" ds:itemID="{000A5719-88CE-4F83-95AD-7CC66679C8D6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976</TotalTime>
  <Words>1438</Words>
  <Application>Microsoft Office PowerPoint</Application>
  <PresentationFormat>Widescreen</PresentationFormat>
  <Paragraphs>415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Ericsson Hilda</vt:lpstr>
      <vt:lpstr>Ericsson Hilda Light</vt:lpstr>
      <vt:lpstr>Wingdings</vt:lpstr>
      <vt:lpstr>Office Theme</vt:lpstr>
      <vt:lpstr>AI/ML Based Log Analysis and Diagnosis</vt:lpstr>
      <vt:lpstr>Business Value </vt:lpstr>
      <vt:lpstr>Workaround</vt:lpstr>
      <vt:lpstr>Data Collection and Labeling </vt:lpstr>
      <vt:lpstr>Model</vt:lpstr>
      <vt:lpstr>Training</vt:lpstr>
      <vt:lpstr>PowerPoint Presentation</vt:lpstr>
      <vt:lpstr>PowerPoint Presentation</vt:lpstr>
      <vt:lpstr>PowerPoint Presentation</vt:lpstr>
      <vt:lpstr>PowerPoint Presentation</vt:lpstr>
      <vt:lpstr>Model Evaluation </vt:lpstr>
      <vt:lpstr>Validation without CGAN</vt:lpstr>
      <vt:lpstr>Validation with CGAN (solve issue of imbalance of training samples)</vt:lpstr>
      <vt:lpstr>Validation with CGAN and Parameter Tuning</vt:lpstr>
      <vt:lpstr>DeepLog Web Tool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 Huang A</dc:creator>
  <cp:lastModifiedBy>Bo Huang A</cp:lastModifiedBy>
  <cp:revision>13</cp:revision>
  <dcterms:created xsi:type="dcterms:W3CDTF">2026-03-19T10:16:18Z</dcterms:created>
  <dcterms:modified xsi:type="dcterms:W3CDTF">2026-03-20T03:03:41Z</dcterms:modified>
</cp:coreProperties>
</file>